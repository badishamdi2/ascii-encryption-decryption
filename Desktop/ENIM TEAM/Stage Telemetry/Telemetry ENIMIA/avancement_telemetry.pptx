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Default Extension="wdp" ContentType="image/vnd.ms-photo"/>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Default Extension="mp4" ContentType="video/mp4"/>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2" r:id="rId4"/>
    <p:sldId id="261" r:id="rId5"/>
    <p:sldId id="259" r:id="rId6"/>
    <p:sldId id="269" r:id="rId7"/>
    <p:sldId id="263" r:id="rId8"/>
    <p:sldId id="264" r:id="rId9"/>
    <p:sldId id="266" r:id="rId10"/>
    <p:sldId id="267" r:id="rId11"/>
    <p:sldId id="268" r:id="rId12"/>
    <p:sldId id="260"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6" d="100"/>
          <a:sy n="116" d="100"/>
        </p:scale>
        <p:origin x="-390" y="-114"/>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82A5779F-D7DF-4541-9A03-C7BB831696EB}" type="datetimeFigureOut">
              <a:rPr lang="fr-FR" smtClean="0"/>
              <a:pPr/>
              <a:t>15/01/2025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C312FF0-5B71-450C-AAE9-9C8A1F8D34D4}" type="slidenum">
              <a:rPr lang="fr-FR" smtClean="0"/>
              <a:pPr/>
              <a:t>‹#›</a:t>
            </a:fld>
            <a:endParaRPr lang="fr-FR"/>
          </a:p>
        </p:txBody>
      </p:sp>
    </p:spTree>
    <p:extLst>
      <p:ext uri="{BB962C8B-B14F-4D97-AF65-F5344CB8AC3E}">
        <p14:creationId xmlns:p14="http://schemas.microsoft.com/office/powerpoint/2010/main" xmlns="" val="1074045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2A5779F-D7DF-4541-9A03-C7BB831696EB}" type="datetimeFigureOut">
              <a:rPr lang="fr-FR" smtClean="0"/>
              <a:pPr/>
              <a:t>15/01/2025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C312FF0-5B71-450C-AAE9-9C8A1F8D34D4}" type="slidenum">
              <a:rPr lang="fr-FR" smtClean="0"/>
              <a:pPr/>
              <a:t>‹#›</a:t>
            </a:fld>
            <a:endParaRPr lang="fr-FR"/>
          </a:p>
        </p:txBody>
      </p:sp>
    </p:spTree>
    <p:extLst>
      <p:ext uri="{BB962C8B-B14F-4D97-AF65-F5344CB8AC3E}">
        <p14:creationId xmlns:p14="http://schemas.microsoft.com/office/powerpoint/2010/main" xmlns="" val="1289220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82A5779F-D7DF-4541-9A03-C7BB831696EB}" type="datetimeFigureOut">
              <a:rPr lang="fr-FR" smtClean="0"/>
              <a:pPr/>
              <a:t>15/01/2025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C312FF0-5B71-450C-AAE9-9C8A1F8D34D4}" type="slidenum">
              <a:rPr lang="fr-FR" smtClean="0"/>
              <a:pPr/>
              <a:t>‹#›</a:t>
            </a:fld>
            <a:endParaRPr lang="fr-FR"/>
          </a:p>
        </p:txBody>
      </p:sp>
    </p:spTree>
    <p:extLst>
      <p:ext uri="{BB962C8B-B14F-4D97-AF65-F5344CB8AC3E}">
        <p14:creationId xmlns:p14="http://schemas.microsoft.com/office/powerpoint/2010/main" xmlns="" val="124118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82A5779F-D7DF-4541-9A03-C7BB831696EB}" type="datetimeFigureOut">
              <a:rPr lang="fr-FR" smtClean="0"/>
              <a:pPr/>
              <a:t>15/01/2025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C312FF0-5B71-450C-AAE9-9C8A1F8D34D4}" type="slidenum">
              <a:rPr lang="fr-FR" smtClean="0"/>
              <a:pPr/>
              <a:t>‹#›</a:t>
            </a:fld>
            <a:endParaRPr lang="fr-FR"/>
          </a:p>
        </p:txBody>
      </p:sp>
    </p:spTree>
    <p:extLst>
      <p:ext uri="{BB962C8B-B14F-4D97-AF65-F5344CB8AC3E}">
        <p14:creationId xmlns:p14="http://schemas.microsoft.com/office/powerpoint/2010/main" xmlns="" val="167622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82A5779F-D7DF-4541-9A03-C7BB831696EB}" type="datetimeFigureOut">
              <a:rPr lang="fr-FR" smtClean="0"/>
              <a:pPr/>
              <a:t>15/01/2025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8C312FF0-5B71-450C-AAE9-9C8A1F8D34D4}" type="slidenum">
              <a:rPr lang="fr-FR" smtClean="0"/>
              <a:pPr/>
              <a:t>‹#›</a:t>
            </a:fld>
            <a:endParaRPr lang="fr-FR"/>
          </a:p>
        </p:txBody>
      </p:sp>
    </p:spTree>
    <p:extLst>
      <p:ext uri="{BB962C8B-B14F-4D97-AF65-F5344CB8AC3E}">
        <p14:creationId xmlns:p14="http://schemas.microsoft.com/office/powerpoint/2010/main" xmlns="" val="1193166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82A5779F-D7DF-4541-9A03-C7BB831696EB}" type="datetimeFigureOut">
              <a:rPr lang="fr-FR" smtClean="0"/>
              <a:pPr/>
              <a:t>15/01/2025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8C312FF0-5B71-450C-AAE9-9C8A1F8D34D4}" type="slidenum">
              <a:rPr lang="fr-FR" smtClean="0"/>
              <a:pPr/>
              <a:t>‹#›</a:t>
            </a:fld>
            <a:endParaRPr lang="fr-FR"/>
          </a:p>
        </p:txBody>
      </p:sp>
    </p:spTree>
    <p:extLst>
      <p:ext uri="{BB962C8B-B14F-4D97-AF65-F5344CB8AC3E}">
        <p14:creationId xmlns:p14="http://schemas.microsoft.com/office/powerpoint/2010/main" xmlns="" val="721322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82A5779F-D7DF-4541-9A03-C7BB831696EB}" type="datetimeFigureOut">
              <a:rPr lang="fr-FR" smtClean="0"/>
              <a:pPr/>
              <a:t>15/01/2025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8C312FF0-5B71-450C-AAE9-9C8A1F8D34D4}" type="slidenum">
              <a:rPr lang="fr-FR" smtClean="0"/>
              <a:pPr/>
              <a:t>‹#›</a:t>
            </a:fld>
            <a:endParaRPr lang="fr-FR"/>
          </a:p>
        </p:txBody>
      </p:sp>
    </p:spTree>
    <p:extLst>
      <p:ext uri="{BB962C8B-B14F-4D97-AF65-F5344CB8AC3E}">
        <p14:creationId xmlns:p14="http://schemas.microsoft.com/office/powerpoint/2010/main" xmlns="" val="650033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82A5779F-D7DF-4541-9A03-C7BB831696EB}" type="datetimeFigureOut">
              <a:rPr lang="fr-FR" smtClean="0"/>
              <a:pPr/>
              <a:t>15/01/2025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C312FF0-5B71-450C-AAE9-9C8A1F8D34D4}" type="slidenum">
              <a:rPr lang="fr-FR" smtClean="0"/>
              <a:pPr/>
              <a:t>‹#›</a:t>
            </a:fld>
            <a:endParaRPr lang="fr-FR"/>
          </a:p>
        </p:txBody>
      </p:sp>
    </p:spTree>
    <p:extLst>
      <p:ext uri="{BB962C8B-B14F-4D97-AF65-F5344CB8AC3E}">
        <p14:creationId xmlns:p14="http://schemas.microsoft.com/office/powerpoint/2010/main" xmlns="" val="3980643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82A5779F-D7DF-4541-9A03-C7BB831696EB}" type="datetimeFigureOut">
              <a:rPr lang="fr-FR" smtClean="0"/>
              <a:pPr/>
              <a:t>15/01/2025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C312FF0-5B71-450C-AAE9-9C8A1F8D34D4}" type="slidenum">
              <a:rPr lang="fr-FR" smtClean="0"/>
              <a:pPr/>
              <a:t>‹#›</a:t>
            </a:fld>
            <a:endParaRPr lang="fr-FR"/>
          </a:p>
        </p:txBody>
      </p:sp>
    </p:spTree>
    <p:extLst>
      <p:ext uri="{BB962C8B-B14F-4D97-AF65-F5344CB8AC3E}">
        <p14:creationId xmlns:p14="http://schemas.microsoft.com/office/powerpoint/2010/main" xmlns="" val="2470566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2A5779F-D7DF-4541-9A03-C7BB831696EB}" type="datetimeFigureOut">
              <a:rPr lang="fr-FR" smtClean="0"/>
              <a:pPr/>
              <a:t>15/01/2025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C312FF0-5B71-450C-AAE9-9C8A1F8D34D4}" type="slidenum">
              <a:rPr lang="fr-FR" smtClean="0"/>
              <a:pPr/>
              <a:t>‹#›</a:t>
            </a:fld>
            <a:endParaRPr lang="fr-FR"/>
          </a:p>
        </p:txBody>
      </p:sp>
    </p:spTree>
    <p:extLst>
      <p:ext uri="{BB962C8B-B14F-4D97-AF65-F5344CB8AC3E}">
        <p14:creationId xmlns:p14="http://schemas.microsoft.com/office/powerpoint/2010/main" xmlns="" val="1161063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2A5779F-D7DF-4541-9A03-C7BB831696EB}" type="datetimeFigureOut">
              <a:rPr lang="fr-FR" smtClean="0"/>
              <a:pPr/>
              <a:t>15/01/2025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C312FF0-5B71-450C-AAE9-9C8A1F8D34D4}" type="slidenum">
              <a:rPr lang="fr-FR" smtClean="0"/>
              <a:pPr/>
              <a:t>‹#›</a:t>
            </a:fld>
            <a:endParaRPr lang="fr-FR"/>
          </a:p>
        </p:txBody>
      </p:sp>
    </p:spTree>
    <p:extLst>
      <p:ext uri="{BB962C8B-B14F-4D97-AF65-F5344CB8AC3E}">
        <p14:creationId xmlns:p14="http://schemas.microsoft.com/office/powerpoint/2010/main" xmlns="" val="3988372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A5779F-D7DF-4541-9A03-C7BB831696EB}" type="datetimeFigureOut">
              <a:rPr lang="fr-FR" smtClean="0"/>
              <a:pPr/>
              <a:t>15/01/2025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312FF0-5B71-450C-AAE9-9C8A1F8D34D4}" type="slidenum">
              <a:rPr lang="fr-FR" smtClean="0"/>
              <a:pPr/>
              <a:t>‹#›</a:t>
            </a:fld>
            <a:endParaRPr lang="fr-FR"/>
          </a:p>
        </p:txBody>
      </p:sp>
    </p:spTree>
    <p:extLst>
      <p:ext uri="{BB962C8B-B14F-4D97-AF65-F5344CB8AC3E}">
        <p14:creationId xmlns:p14="http://schemas.microsoft.com/office/powerpoint/2010/main" xmlns="" val="32069107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microsoft.com/office/2007/relationships/hdphoto" Target="../media/hdphoto3.wdp"/></Relationships>
</file>

<file path=ppt/slides/_rels/slide3.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6.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microsoft.com/office/2007/relationships/hdphoto" Target="../media/hdphoto3.wdp"/></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7.png"/><Relationship Id="rId4" Type="http://schemas.microsoft.com/office/2007/relationships/hdphoto" Target="../media/hdphoto3.wdp"/></Relationships>
</file>

<file path=ppt/slides/_rels/slide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6.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microsoft.com/office/2007/relationships/hdphoto" Target="../media/hdphoto3.wdp"/></Relationships>
</file>

<file path=ppt/slides/_rels/slide6.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6.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microsoft.com/office/2007/relationships/hdphoto" Target="../media/hdphoto3.wdp"/></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slideLayout" Target="../slideLayouts/slideLayout1.xml"/><Relationship Id="rId1" Type="http://schemas.openxmlformats.org/officeDocument/2006/relationships/video" Target="../media/media1.mp4"/><Relationship Id="rId6" Type="http://schemas.microsoft.com/office/2007/relationships/hdphoto" Target="../media/hdphoto3.wdp"/><Relationship Id="rId11" Type="http://schemas.openxmlformats.org/officeDocument/2006/relationships/image" Target="../media/image11.png"/><Relationship Id="rId10" Type="http://schemas.microsoft.com/office/2007/relationships/media" Target="../media/media1.mp4"/><Relationship Id="rId4" Type="http://schemas.openxmlformats.org/officeDocument/2006/relationships/image" Target="../media/image6.png"/><Relationship Id="rId9" Type="http://schemas.microsoft.com/office/2007/relationships/hdphoto" Target="../media/hdphoto2.wdp"/></Relationships>
</file>

<file path=ppt/slides/_rels/slide8.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6.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microsoft.com/office/2007/relationships/hdphoto" Target="../media/hdphoto3.wdp"/></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microsoft.com/office/2007/relationships/hdphoto" Target="../media/hdphoto3.wdp"/><Relationship Id="rId9" Type="http://schemas.openxmlformats.org/officeDocument/2006/relationships/image" Target="../media/image14.jpeg"/></Relationships>
</file>

<file path=ppt/slides/_rels/slide10.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6.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microsoft.com/office/2007/relationships/hdphoto" Target="../media/hdphoto3.wdp"/></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microsoft.com/office/2007/relationships/hdphoto" Target="../media/hdphoto3.wdp"/></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iamond 9">
            <a:extLst>
              <a:ext uri="{FF2B5EF4-FFF2-40B4-BE49-F238E27FC236}">
                <a16:creationId xmlns:a16="http://schemas.microsoft.com/office/drawing/2014/main" xmlns="" id="{EFCEC8AD-4521-B50D-49D6-6BC4470804B0}"/>
              </a:ext>
            </a:extLst>
          </p:cNvPr>
          <p:cNvSpPr/>
          <p:nvPr/>
        </p:nvSpPr>
        <p:spPr>
          <a:xfrm>
            <a:off x="110292" y="1643444"/>
            <a:ext cx="3592289" cy="3074039"/>
          </a:xfrm>
          <a:prstGeom prst="diamond">
            <a:avLst/>
          </a:prstGeom>
          <a:noFill/>
          <a:ln w="38100">
            <a:solidFill>
              <a:srgbClr val="0023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1842"/>
              </a:solidFill>
            </a:endParaRPr>
          </a:p>
        </p:txBody>
      </p:sp>
      <p:sp>
        <p:nvSpPr>
          <p:cNvPr id="11" name="Diamond 10">
            <a:extLst>
              <a:ext uri="{FF2B5EF4-FFF2-40B4-BE49-F238E27FC236}">
                <a16:creationId xmlns:a16="http://schemas.microsoft.com/office/drawing/2014/main" xmlns="" id="{3DD9CF20-5B48-24B7-9990-BAABC779B0E1}"/>
              </a:ext>
            </a:extLst>
          </p:cNvPr>
          <p:cNvSpPr/>
          <p:nvPr/>
        </p:nvSpPr>
        <p:spPr>
          <a:xfrm>
            <a:off x="110292" y="3767770"/>
            <a:ext cx="3583054" cy="2987593"/>
          </a:xfrm>
          <a:prstGeom prst="diamond">
            <a:avLst/>
          </a:prstGeom>
          <a:noFill/>
          <a:ln w="38100">
            <a:solidFill>
              <a:srgbClr val="8000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821634"/>
              </a:solidFill>
            </a:endParaRPr>
          </a:p>
        </p:txBody>
      </p:sp>
      <p:sp>
        <p:nvSpPr>
          <p:cNvPr id="36" name="TextBox 35">
            <a:extLst>
              <a:ext uri="{FF2B5EF4-FFF2-40B4-BE49-F238E27FC236}">
                <a16:creationId xmlns:a16="http://schemas.microsoft.com/office/drawing/2014/main" xmlns="" id="{29971081-1E7C-6E8A-8E27-BA05D1CEEA37}"/>
              </a:ext>
            </a:extLst>
          </p:cNvPr>
          <p:cNvSpPr txBox="1"/>
          <p:nvPr/>
        </p:nvSpPr>
        <p:spPr>
          <a:xfrm>
            <a:off x="5430417" y="5064055"/>
            <a:ext cx="6650214" cy="1446550"/>
          </a:xfrm>
          <a:prstGeom prst="rect">
            <a:avLst/>
          </a:prstGeom>
          <a:noFill/>
        </p:spPr>
        <p:txBody>
          <a:bodyPr wrap="square" rtlCol="0">
            <a:spAutoFit/>
          </a:bodyPr>
          <a:lstStyle/>
          <a:p>
            <a:r>
              <a:rPr lang="en-US" sz="6000" dirty="0">
                <a:solidFill>
                  <a:srgbClr val="565A61"/>
                </a:solidFill>
              </a:rPr>
              <a:t>November 2024</a:t>
            </a:r>
          </a:p>
          <a:p>
            <a:r>
              <a:rPr lang="en-US" sz="2800" dirty="0">
                <a:solidFill>
                  <a:srgbClr val="565A61"/>
                </a:solidFill>
              </a:rPr>
              <a:t>Elaboré par: Talel Chouikh et Rihab Mejri</a:t>
            </a:r>
          </a:p>
        </p:txBody>
      </p:sp>
      <p:sp>
        <p:nvSpPr>
          <p:cNvPr id="5" name="TextBox 4">
            <a:extLst>
              <a:ext uri="{FF2B5EF4-FFF2-40B4-BE49-F238E27FC236}">
                <a16:creationId xmlns:a16="http://schemas.microsoft.com/office/drawing/2014/main" xmlns="" id="{22C3D5AC-1047-DC40-A9A9-5271E36830B6}"/>
              </a:ext>
            </a:extLst>
          </p:cNvPr>
          <p:cNvSpPr txBox="1"/>
          <p:nvPr/>
        </p:nvSpPr>
        <p:spPr>
          <a:xfrm>
            <a:off x="3245322" y="1472940"/>
            <a:ext cx="8622146" cy="3244543"/>
          </a:xfrm>
          <a:prstGeom prst="rect">
            <a:avLst/>
          </a:prstGeom>
          <a:noFill/>
        </p:spPr>
        <p:txBody>
          <a:bodyPr wrap="square">
            <a:spAutoFit/>
          </a:bodyPr>
          <a:lstStyle/>
          <a:p>
            <a:pPr algn="ctr">
              <a:lnSpc>
                <a:spcPct val="150000"/>
              </a:lnSpc>
            </a:pPr>
            <a:r>
              <a:rPr lang="fr-FR" sz="7200" b="1" dirty="0">
                <a:solidFill>
                  <a:srgbClr val="002371"/>
                </a:solidFill>
              </a:rPr>
              <a:t>ENIM TEAM TUNISIA</a:t>
            </a:r>
            <a:r>
              <a:rPr lang="fr-FR" sz="7200" b="1" dirty="0">
                <a:solidFill>
                  <a:srgbClr val="FA9F01"/>
                </a:solidFill>
              </a:rPr>
              <a:t/>
            </a:r>
            <a:br>
              <a:rPr lang="fr-FR" sz="7200" b="1" dirty="0">
                <a:solidFill>
                  <a:srgbClr val="FA9F01"/>
                </a:solidFill>
              </a:rPr>
            </a:br>
            <a:r>
              <a:rPr lang="fr-FR" sz="7200" b="1" dirty="0">
                <a:solidFill>
                  <a:srgbClr val="80001F"/>
                </a:solidFill>
                <a:latin typeface="+mj-lt"/>
              </a:rPr>
              <a:t>Telemetrie</a:t>
            </a:r>
            <a:endParaRPr lang="en-US" sz="7200" dirty="0">
              <a:solidFill>
                <a:srgbClr val="80001F"/>
              </a:solidFill>
              <a:latin typeface="+mj-lt"/>
            </a:endParaRPr>
          </a:p>
        </p:txBody>
      </p:sp>
      <p:pic>
        <p:nvPicPr>
          <p:cNvPr id="4" name="Picture 3" descr="A black background with red text&#10;&#10;Description automatically generated">
            <a:extLst>
              <a:ext uri="{FF2B5EF4-FFF2-40B4-BE49-F238E27FC236}">
                <a16:creationId xmlns:a16="http://schemas.microsoft.com/office/drawing/2014/main" xmlns="" id="{EC88027C-DD7E-8579-1CAC-D4293D1DA5FE}"/>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b="68890"/>
          <a:stretch/>
        </p:blipFill>
        <p:spPr>
          <a:xfrm>
            <a:off x="266205" y="-42128"/>
            <a:ext cx="3592289" cy="1072139"/>
          </a:xfrm>
          <a:prstGeom prst="rect">
            <a:avLst/>
          </a:prstGeom>
        </p:spPr>
      </p:pic>
      <p:pic>
        <p:nvPicPr>
          <p:cNvPr id="9" name="Picture 8" descr="A blue and green logo&#10;&#10;Description automatically generated">
            <a:extLst>
              <a:ext uri="{FF2B5EF4-FFF2-40B4-BE49-F238E27FC236}">
                <a16:creationId xmlns:a16="http://schemas.microsoft.com/office/drawing/2014/main" xmlns="" id="{DAA3BEB1-69B6-AB78-5B46-0FD559648C11}"/>
              </a:ext>
            </a:extLst>
          </p:cNvPr>
          <p:cNvPicPr>
            <a:picLocks noChangeAspect="1"/>
          </p:cNvPicPr>
          <p:nvPr/>
        </p:nvPicPr>
        <p:blipFill>
          <a:blip r:embed="rId3" cstate="print">
            <a:extLst>
              <a:ext uri="{BEBA8EAE-BF5A-486C-A8C5-ECC9F3942E4B}">
                <a14:imgProps xmlns:a14="http://schemas.microsoft.com/office/drawing/2010/main" xmlns="">
                  <a14:imgLayer r:embed="rId4">
                    <a14:imgEffect>
                      <a14:colorTemperature colorTemp="8800"/>
                    </a14:imgEffect>
                  </a14:imgLayer>
                </a14:imgProps>
              </a:ext>
              <a:ext uri="{28A0092B-C50C-407E-A947-70E740481C1C}">
                <a14:useLocalDpi xmlns:a14="http://schemas.microsoft.com/office/drawing/2010/main" xmlns="" val="0"/>
              </a:ext>
            </a:extLst>
          </a:blip>
          <a:stretch>
            <a:fillRect/>
          </a:stretch>
        </p:blipFill>
        <p:spPr>
          <a:xfrm>
            <a:off x="10678977" y="-123424"/>
            <a:ext cx="1246818" cy="1192628"/>
          </a:xfrm>
          <a:prstGeom prst="rect">
            <a:avLst/>
          </a:prstGeom>
        </p:spPr>
      </p:pic>
      <p:pic>
        <p:nvPicPr>
          <p:cNvPr id="14" name="Picture 13" descr="A logo with blue and orange flames&#10;&#10;Description automatically generated">
            <a:extLst>
              <a:ext uri="{FF2B5EF4-FFF2-40B4-BE49-F238E27FC236}">
                <a16:creationId xmlns:a16="http://schemas.microsoft.com/office/drawing/2014/main" xmlns="" id="{2C8EA889-0075-0048-3E2B-E440F3E2C5F7}"/>
              </a:ext>
            </a:extLst>
          </p:cNvPr>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8946679" y="28365"/>
            <a:ext cx="845714" cy="1005840"/>
          </a:xfrm>
          <a:prstGeom prst="rect">
            <a:avLst/>
          </a:prstGeom>
        </p:spPr>
      </p:pic>
      <p:pic>
        <p:nvPicPr>
          <p:cNvPr id="15" name="Picture 14" descr="A red text on a white background&#10;&#10;Description automatically generated">
            <a:extLst>
              <a:ext uri="{FF2B5EF4-FFF2-40B4-BE49-F238E27FC236}">
                <a16:creationId xmlns:a16="http://schemas.microsoft.com/office/drawing/2014/main" xmlns="" id="{C5256BBD-623D-EB3E-9535-84739DAB86AC}"/>
              </a:ext>
            </a:extLst>
          </p:cNvPr>
          <p:cNvPicPr>
            <a:picLocks noChangeAspect="1"/>
          </p:cNvPicPr>
          <p:nvPr/>
        </p:nvPicPr>
        <p:blipFill>
          <a:blip r:embed="rId6" cstate="print">
            <a:extLst>
              <a:ext uri="{BEBA8EAE-BF5A-486C-A8C5-ECC9F3942E4B}">
                <a14:imgProps xmlns:a14="http://schemas.microsoft.com/office/drawing/2010/main" xmlns="">
                  <a14:imgLayer r:embed="rId7">
                    <a14:imgEffect>
                      <a14:backgroundRemoval t="9921" b="89683" l="4778" r="95444">
                        <a14:foregroundMark x1="14000" y1="42063" x2="14000" y2="42063"/>
                        <a14:foregroundMark x1="14000" y1="42063" x2="13222" y2="42063"/>
                        <a14:foregroundMark x1="6222" y1="42063" x2="6222" y2="42063"/>
                        <a14:foregroundMark x1="6222" y1="42063" x2="6222" y2="42063"/>
                        <a14:foregroundMark x1="4778" y1="54762" x2="4778" y2="54762"/>
                        <a14:foregroundMark x1="4778" y1="54762" x2="4778" y2="54762"/>
                        <a14:foregroundMark x1="28667" y1="26587" x2="28667" y2="26587"/>
                        <a14:foregroundMark x1="28667" y1="26587" x2="28667" y2="26587"/>
                        <a14:foregroundMark x1="32778" y1="27381" x2="32778" y2="27381"/>
                        <a14:foregroundMark x1="38889" y1="30952" x2="38889" y2="30952"/>
                        <a14:foregroundMark x1="43556" y1="25397" x2="43556" y2="25397"/>
                        <a14:foregroundMark x1="41444" y1="25397" x2="41444" y2="25397"/>
                        <a14:foregroundMark x1="30444" y1="58730" x2="30444" y2="58730"/>
                        <a14:foregroundMark x1="35889" y1="54762" x2="35889" y2="54762"/>
                        <a14:foregroundMark x1="41000" y1="54762" x2="41000" y2="54762"/>
                        <a14:foregroundMark x1="45333" y1="59524" x2="45333" y2="59524"/>
                        <a14:foregroundMark x1="48667" y1="56746" x2="48667" y2="56746"/>
                        <a14:foregroundMark x1="60222" y1="54762" x2="60222" y2="54762"/>
                        <a14:foregroundMark x1="66444" y1="56746" x2="66444" y2="56746"/>
                        <a14:foregroundMark x1="73111" y1="58730" x2="73111" y2="58730"/>
                        <a14:foregroundMark x1="75667" y1="49603" x2="75667" y2="49603"/>
                        <a14:foregroundMark x1="79556" y1="44841" x2="79556" y2="44841"/>
                        <a14:foregroundMark x1="89333" y1="64286" x2="89333" y2="64286"/>
                        <a14:foregroundMark x1="91889" y1="64286" x2="91889" y2="64286"/>
                        <a14:foregroundMark x1="95444" y1="58730" x2="95444" y2="58730"/>
                        <a14:backgroundMark x1="55333" y1="21825" x2="68000" y2="10714"/>
                        <a14:backgroundMark x1="64889" y1="19048" x2="62111" y2="27381"/>
                      </a14:backgroundRemoval>
                    </a14:imgEffect>
                  </a14:imgLayer>
                </a14:imgProps>
              </a:ext>
              <a:ext uri="{28A0092B-C50C-407E-A947-70E740481C1C}">
                <a14:useLocalDpi xmlns:a14="http://schemas.microsoft.com/office/drawing/2010/main" xmlns="" val="0"/>
              </a:ext>
            </a:extLst>
          </a:blip>
          <a:stretch>
            <a:fillRect/>
          </a:stretch>
        </p:blipFill>
        <p:spPr>
          <a:xfrm>
            <a:off x="4537064" y="63363"/>
            <a:ext cx="3796444" cy="1063005"/>
          </a:xfrm>
          <a:prstGeom prst="rect">
            <a:avLst/>
          </a:prstGeom>
        </p:spPr>
      </p:pic>
    </p:spTree>
    <p:extLst>
      <p:ext uri="{BB962C8B-B14F-4D97-AF65-F5344CB8AC3E}">
        <p14:creationId xmlns:p14="http://schemas.microsoft.com/office/powerpoint/2010/main" xmlns="" val="4121385113"/>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xmlns="" id="{2D508E53-1C0A-CE6A-BBF4-11FEBAAA70B3}"/>
              </a:ext>
            </a:extLst>
          </p:cNvPr>
          <p:cNvSpPr txBox="1"/>
          <p:nvPr/>
        </p:nvSpPr>
        <p:spPr>
          <a:xfrm>
            <a:off x="4075234" y="1734161"/>
            <a:ext cx="7725767" cy="2219838"/>
          </a:xfrm>
          <a:prstGeom prst="rect">
            <a:avLst/>
          </a:prstGeom>
          <a:noFill/>
        </p:spPr>
        <p:txBody>
          <a:bodyPr wrap="square" rtlCol="0">
            <a:spAutoFit/>
          </a:bodyPr>
          <a:lstStyle/>
          <a:p>
            <a:pPr>
              <a:lnSpc>
                <a:spcPct val="150000"/>
              </a:lnSpc>
            </a:pPr>
            <a:r>
              <a:rPr lang="fr-FR" sz="3200" b="1" dirty="0">
                <a:solidFill>
                  <a:srgbClr val="002371"/>
                </a:solidFill>
                <a:latin typeface="Times New Roman" panose="02020603050405020304" pitchFamily="18" charset="0"/>
                <a:cs typeface="Times New Roman" panose="02020603050405020304" pitchFamily="18" charset="0"/>
              </a:rPr>
              <a:t>1. Introduction à la partie télémétrie </a:t>
            </a:r>
          </a:p>
          <a:p>
            <a:pPr>
              <a:lnSpc>
                <a:spcPct val="150000"/>
              </a:lnSpc>
            </a:pPr>
            <a:r>
              <a:rPr lang="fr-FR" sz="3200" b="1" dirty="0">
                <a:solidFill>
                  <a:srgbClr val="002371"/>
                </a:solidFill>
                <a:latin typeface="Times New Roman" panose="02020603050405020304" pitchFamily="18" charset="0"/>
                <a:cs typeface="Times New Roman" panose="02020603050405020304" pitchFamily="18" charset="0"/>
              </a:rPr>
              <a:t>2. Avancement du projet</a:t>
            </a:r>
          </a:p>
          <a:p>
            <a:pPr>
              <a:lnSpc>
                <a:spcPct val="150000"/>
              </a:lnSpc>
            </a:pPr>
            <a:r>
              <a:rPr lang="fr-FR" sz="3200" b="1" dirty="0">
                <a:solidFill>
                  <a:srgbClr val="002371"/>
                </a:solidFill>
                <a:latin typeface="Times New Roman" panose="02020603050405020304" pitchFamily="18" charset="0"/>
                <a:cs typeface="Times New Roman" panose="02020603050405020304" pitchFamily="18" charset="0"/>
              </a:rPr>
              <a:t>3. Etape suivante</a:t>
            </a:r>
          </a:p>
        </p:txBody>
      </p:sp>
      <p:sp>
        <p:nvSpPr>
          <p:cNvPr id="5" name="TextBox 4">
            <a:extLst>
              <a:ext uri="{FF2B5EF4-FFF2-40B4-BE49-F238E27FC236}">
                <a16:creationId xmlns:a16="http://schemas.microsoft.com/office/drawing/2014/main" xmlns="" id="{22C3D5AC-1047-DC40-A9A9-5271E36830B6}"/>
              </a:ext>
            </a:extLst>
          </p:cNvPr>
          <p:cNvSpPr txBox="1"/>
          <p:nvPr/>
        </p:nvSpPr>
        <p:spPr>
          <a:xfrm>
            <a:off x="903328" y="1970587"/>
            <a:ext cx="2538287" cy="1458413"/>
          </a:xfrm>
          <a:prstGeom prst="rect">
            <a:avLst/>
          </a:prstGeom>
          <a:noFill/>
        </p:spPr>
        <p:txBody>
          <a:bodyPr wrap="square">
            <a:spAutoFit/>
          </a:bodyPr>
          <a:lstStyle/>
          <a:p>
            <a:pPr>
              <a:lnSpc>
                <a:spcPct val="150000"/>
              </a:lnSpc>
            </a:pPr>
            <a:r>
              <a:rPr lang="fr-FR" sz="6600" b="1" dirty="0">
                <a:solidFill>
                  <a:srgbClr val="002371"/>
                </a:solidFill>
                <a:latin typeface="Times New Roman" panose="02020603050405020304" pitchFamily="18" charset="0"/>
                <a:cs typeface="Times New Roman" panose="02020603050405020304" pitchFamily="18" charset="0"/>
              </a:rPr>
              <a:t>PLAN</a:t>
            </a:r>
            <a:endParaRPr lang="en-US" sz="6600" dirty="0">
              <a:solidFill>
                <a:srgbClr val="80001F"/>
              </a:solidFill>
              <a:latin typeface="Times New Roman" panose="02020603050405020304" pitchFamily="18" charset="0"/>
              <a:cs typeface="Times New Roman" panose="02020603050405020304" pitchFamily="18" charset="0"/>
            </a:endParaRPr>
          </a:p>
        </p:txBody>
      </p:sp>
      <p:grpSp>
        <p:nvGrpSpPr>
          <p:cNvPr id="2" name="Group 1">
            <a:extLst>
              <a:ext uri="{FF2B5EF4-FFF2-40B4-BE49-F238E27FC236}">
                <a16:creationId xmlns:a16="http://schemas.microsoft.com/office/drawing/2014/main" xmlns="" id="{924843D6-6504-7B99-2A31-0CB9A18FAD45}"/>
              </a:ext>
            </a:extLst>
          </p:cNvPr>
          <p:cNvGrpSpPr/>
          <p:nvPr/>
        </p:nvGrpSpPr>
        <p:grpSpPr>
          <a:xfrm>
            <a:off x="120406" y="5635385"/>
            <a:ext cx="11951185" cy="1222615"/>
            <a:chOff x="120406" y="5635385"/>
            <a:chExt cx="11951185" cy="1222615"/>
          </a:xfrm>
        </p:grpSpPr>
        <p:grpSp>
          <p:nvGrpSpPr>
            <p:cNvPr id="3" name="Group 2">
              <a:extLst>
                <a:ext uri="{FF2B5EF4-FFF2-40B4-BE49-F238E27FC236}">
                  <a16:creationId xmlns:a16="http://schemas.microsoft.com/office/drawing/2014/main" xmlns="" id="{610389AC-2AED-2461-929E-660E265E4C8D}"/>
                </a:ext>
              </a:extLst>
            </p:cNvPr>
            <p:cNvGrpSpPr/>
            <p:nvPr/>
          </p:nvGrpSpPr>
          <p:grpSpPr>
            <a:xfrm>
              <a:off x="267057" y="5635385"/>
              <a:ext cx="10303749" cy="1222615"/>
              <a:chOff x="50842" y="5529493"/>
              <a:chExt cx="11659590" cy="1249792"/>
            </a:xfrm>
          </p:grpSpPr>
          <p:pic>
            <p:nvPicPr>
              <p:cNvPr id="8" name="Picture 7" descr="A black background with red text&#10;&#10;Description automatically generated">
                <a:extLst>
                  <a:ext uri="{FF2B5EF4-FFF2-40B4-BE49-F238E27FC236}">
                    <a16:creationId xmlns:a16="http://schemas.microsoft.com/office/drawing/2014/main" xmlns="" id="{9A85A600-84A6-DD8E-4CBF-D5BC5BAFADA2}"/>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b="68890"/>
              <a:stretch/>
            </p:blipFill>
            <p:spPr>
              <a:xfrm>
                <a:off x="50842" y="5610789"/>
                <a:ext cx="3592289" cy="1072139"/>
              </a:xfrm>
              <a:prstGeom prst="rect">
                <a:avLst/>
              </a:prstGeom>
            </p:spPr>
          </p:pic>
          <p:pic>
            <p:nvPicPr>
              <p:cNvPr id="12" name="Picture 11" descr="A blue and green logo&#10;&#10;Description automatically generated">
                <a:extLst>
                  <a:ext uri="{FF2B5EF4-FFF2-40B4-BE49-F238E27FC236}">
                    <a16:creationId xmlns:a16="http://schemas.microsoft.com/office/drawing/2014/main" xmlns="" id="{D88274B3-5354-CBA3-F24B-E2F069BEDB5B}"/>
                  </a:ext>
                </a:extLst>
              </p:cNvPr>
              <p:cNvPicPr>
                <a:picLocks noChangeAspect="1"/>
              </p:cNvPicPr>
              <p:nvPr/>
            </p:nvPicPr>
            <p:blipFill>
              <a:blip r:embed="rId3" cstate="print">
                <a:extLst>
                  <a:ext uri="{BEBA8EAE-BF5A-486C-A8C5-ECC9F3942E4B}">
                    <a14:imgProps xmlns:a14="http://schemas.microsoft.com/office/drawing/2010/main" xmlns="">
                      <a14:imgLayer r:embed="rId4">
                        <a14:imgEffect>
                          <a14:colorTemperature colorTemp="8800"/>
                        </a14:imgEffect>
                      </a14:imgLayer>
                    </a14:imgProps>
                  </a:ext>
                  <a:ext uri="{28A0092B-C50C-407E-A947-70E740481C1C}">
                    <a14:useLocalDpi xmlns:a14="http://schemas.microsoft.com/office/drawing/2010/main" xmlns="" val="0"/>
                  </a:ext>
                </a:extLst>
              </a:blip>
              <a:stretch>
                <a:fillRect/>
              </a:stretch>
            </p:blipFill>
            <p:spPr>
              <a:xfrm>
                <a:off x="10463614" y="5529493"/>
                <a:ext cx="1246818" cy="1192628"/>
              </a:xfrm>
              <a:prstGeom prst="rect">
                <a:avLst/>
              </a:prstGeom>
            </p:spPr>
          </p:pic>
          <p:pic>
            <p:nvPicPr>
              <p:cNvPr id="13" name="Picture 12" descr="A logo with blue and orange flames&#10;&#10;Description automatically generated">
                <a:extLst>
                  <a:ext uri="{FF2B5EF4-FFF2-40B4-BE49-F238E27FC236}">
                    <a16:creationId xmlns:a16="http://schemas.microsoft.com/office/drawing/2014/main" xmlns="" id="{E53CB9A8-3232-6F68-81AA-931CA5CA1F27}"/>
                  </a:ext>
                </a:extLst>
              </p:cNvPr>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8731316" y="5681282"/>
                <a:ext cx="845714" cy="1005840"/>
              </a:xfrm>
              <a:prstGeom prst="rect">
                <a:avLst/>
              </a:prstGeom>
            </p:spPr>
          </p:pic>
          <p:pic>
            <p:nvPicPr>
              <p:cNvPr id="16" name="Picture 15" descr="A red text on a white background&#10;&#10;Description automatically generated">
                <a:extLst>
                  <a:ext uri="{FF2B5EF4-FFF2-40B4-BE49-F238E27FC236}">
                    <a16:creationId xmlns:a16="http://schemas.microsoft.com/office/drawing/2014/main" xmlns="" id="{B8051D43-723B-AC3A-3245-4E319C0E571E}"/>
                  </a:ext>
                </a:extLst>
              </p:cNvPr>
              <p:cNvPicPr>
                <a:picLocks noChangeAspect="1"/>
              </p:cNvPicPr>
              <p:nvPr/>
            </p:nvPicPr>
            <p:blipFill>
              <a:blip r:embed="rId6" cstate="print">
                <a:extLst>
                  <a:ext uri="{BEBA8EAE-BF5A-486C-A8C5-ECC9F3942E4B}">
                    <a14:imgProps xmlns:a14="http://schemas.microsoft.com/office/drawing/2010/main" xmlns="">
                      <a14:imgLayer r:embed="rId7">
                        <a14:imgEffect>
                          <a14:backgroundRemoval t="9921" b="89683" l="4778" r="95444">
                            <a14:foregroundMark x1="14000" y1="42063" x2="14000" y2="42063"/>
                            <a14:foregroundMark x1="14000" y1="42063" x2="13222" y2="42063"/>
                            <a14:foregroundMark x1="6222" y1="42063" x2="6222" y2="42063"/>
                            <a14:foregroundMark x1="6222" y1="42063" x2="6222" y2="42063"/>
                            <a14:foregroundMark x1="4778" y1="54762" x2="4778" y2="54762"/>
                            <a14:foregroundMark x1="4778" y1="54762" x2="4778" y2="54762"/>
                            <a14:foregroundMark x1="28667" y1="26587" x2="28667" y2="26587"/>
                            <a14:foregroundMark x1="28667" y1="26587" x2="28667" y2="26587"/>
                            <a14:foregroundMark x1="32778" y1="27381" x2="32778" y2="27381"/>
                            <a14:foregroundMark x1="38889" y1="30952" x2="38889" y2="30952"/>
                            <a14:foregroundMark x1="43556" y1="25397" x2="43556" y2="25397"/>
                            <a14:foregroundMark x1="41444" y1="25397" x2="41444" y2="25397"/>
                            <a14:foregroundMark x1="30444" y1="58730" x2="30444" y2="58730"/>
                            <a14:foregroundMark x1="35889" y1="54762" x2="35889" y2="54762"/>
                            <a14:foregroundMark x1="41000" y1="54762" x2="41000" y2="54762"/>
                            <a14:foregroundMark x1="45333" y1="59524" x2="45333" y2="59524"/>
                            <a14:foregroundMark x1="48667" y1="56746" x2="48667" y2="56746"/>
                            <a14:foregroundMark x1="60222" y1="54762" x2="60222" y2="54762"/>
                            <a14:foregroundMark x1="66444" y1="56746" x2="66444" y2="56746"/>
                            <a14:foregroundMark x1="73111" y1="58730" x2="73111" y2="58730"/>
                            <a14:foregroundMark x1="75667" y1="49603" x2="75667" y2="49603"/>
                            <a14:foregroundMark x1="79556" y1="44841" x2="79556" y2="44841"/>
                            <a14:foregroundMark x1="89333" y1="64286" x2="89333" y2="64286"/>
                            <a14:foregroundMark x1="91889" y1="64286" x2="91889" y2="64286"/>
                            <a14:foregroundMark x1="95444" y1="58730" x2="95444" y2="58730"/>
                            <a14:backgroundMark x1="55333" y1="21825" x2="68000" y2="10714"/>
                            <a14:backgroundMark x1="64889" y1="19048" x2="62111" y2="27381"/>
                          </a14:backgroundRemoval>
                        </a14:imgEffect>
                      </a14:imgLayer>
                    </a14:imgProps>
                  </a:ext>
                  <a:ext uri="{28A0092B-C50C-407E-A947-70E740481C1C}">
                    <a14:useLocalDpi xmlns:a14="http://schemas.microsoft.com/office/drawing/2010/main" xmlns="" val="0"/>
                  </a:ext>
                </a:extLst>
              </a:blip>
              <a:stretch>
                <a:fillRect/>
              </a:stretch>
            </p:blipFill>
            <p:spPr>
              <a:xfrm>
                <a:off x="4321701" y="5716280"/>
                <a:ext cx="3796444" cy="1063005"/>
              </a:xfrm>
              <a:prstGeom prst="rect">
                <a:avLst/>
              </a:prstGeom>
            </p:spPr>
          </p:pic>
        </p:grpSp>
        <p:sp>
          <p:nvSpPr>
            <p:cNvPr id="7" name="Rectangle 6">
              <a:extLst>
                <a:ext uri="{FF2B5EF4-FFF2-40B4-BE49-F238E27FC236}">
                  <a16:creationId xmlns:a16="http://schemas.microsoft.com/office/drawing/2014/main" xmlns="" id="{0FAE54BD-628D-87AB-21C6-FC7BC38D42B1}"/>
                </a:ext>
              </a:extLst>
            </p:cNvPr>
            <p:cNvSpPr/>
            <p:nvPr/>
          </p:nvSpPr>
          <p:spPr>
            <a:xfrm>
              <a:off x="120406" y="5819629"/>
              <a:ext cx="11951185" cy="910145"/>
            </a:xfrm>
            <a:prstGeom prst="rect">
              <a:avLst/>
            </a:prstGeom>
            <a:noFill/>
            <a:ln w="38100" cap="flat" cmpd="sng" algn="ctr">
              <a:solidFill>
                <a:srgbClr val="00237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sp>
        <p:nvSpPr>
          <p:cNvPr id="4" name="Rectangle 3"/>
          <p:cNvSpPr/>
          <p:nvPr/>
        </p:nvSpPr>
        <p:spPr>
          <a:xfrm>
            <a:off x="5977217" y="3244334"/>
            <a:ext cx="237566" cy="369332"/>
          </a:xfrm>
          <a:prstGeom prst="rect">
            <a:avLst/>
          </a:prstGeom>
        </p:spPr>
        <p:txBody>
          <a:bodyPr wrap="none">
            <a:spAutoFit/>
          </a:bodyPr>
          <a:lstStyle/>
          <a:p>
            <a:r>
              <a:rPr lang="fr-FR" dirty="0"/>
              <a:t> </a:t>
            </a:r>
          </a:p>
        </p:txBody>
      </p:sp>
      <p:sp>
        <p:nvSpPr>
          <p:cNvPr id="6" name="Rectangle 5"/>
          <p:cNvSpPr/>
          <p:nvPr/>
        </p:nvSpPr>
        <p:spPr>
          <a:xfrm>
            <a:off x="5977217" y="3244334"/>
            <a:ext cx="237566" cy="369332"/>
          </a:xfrm>
          <a:prstGeom prst="rect">
            <a:avLst/>
          </a:prstGeom>
        </p:spPr>
        <p:txBody>
          <a:bodyPr wrap="none">
            <a:spAutoFit/>
          </a:bodyPr>
          <a:lstStyle/>
          <a:p>
            <a:r>
              <a:rPr lang="fr-FR" dirty="0"/>
              <a:t> </a:t>
            </a:r>
          </a:p>
        </p:txBody>
      </p:sp>
      <p:sp>
        <p:nvSpPr>
          <p:cNvPr id="10" name="Rectangle 9"/>
          <p:cNvSpPr/>
          <p:nvPr/>
        </p:nvSpPr>
        <p:spPr>
          <a:xfrm>
            <a:off x="5977217" y="3244334"/>
            <a:ext cx="237566" cy="369332"/>
          </a:xfrm>
          <a:prstGeom prst="rect">
            <a:avLst/>
          </a:prstGeom>
        </p:spPr>
        <p:txBody>
          <a:bodyPr wrap="none">
            <a:spAutoFit/>
          </a:bodyPr>
          <a:lstStyle/>
          <a:p>
            <a:r>
              <a:rPr lang="fr-FR" dirty="0"/>
              <a:t> </a:t>
            </a:r>
          </a:p>
        </p:txBody>
      </p:sp>
      <p:sp>
        <p:nvSpPr>
          <p:cNvPr id="14" name="TextBox 18">
            <a:extLst>
              <a:ext uri="{FF2B5EF4-FFF2-40B4-BE49-F238E27FC236}">
                <a16:creationId xmlns:a16="http://schemas.microsoft.com/office/drawing/2014/main" xmlns="" id="{66C6E174-C10E-F7C8-05C6-09B77E7BC298}"/>
              </a:ext>
            </a:extLst>
          </p:cNvPr>
          <p:cNvSpPr txBox="1"/>
          <p:nvPr/>
        </p:nvSpPr>
        <p:spPr>
          <a:xfrm>
            <a:off x="11354293" y="5902967"/>
            <a:ext cx="444352" cy="707886"/>
          </a:xfrm>
          <a:prstGeom prst="rect">
            <a:avLst/>
          </a:prstGeom>
          <a:noFill/>
        </p:spPr>
        <p:txBody>
          <a:bodyPr wrap="none" rtlCol="0">
            <a:spAutoFit/>
          </a:bodyPr>
          <a:lstStyle/>
          <a:p>
            <a:r>
              <a:rPr lang="en-US" sz="4000" b="1" dirty="0" smtClean="0">
                <a:solidFill>
                  <a:srgbClr val="821634"/>
                </a:solidFill>
              </a:rPr>
              <a:t>2</a:t>
            </a:r>
          </a:p>
        </p:txBody>
      </p:sp>
    </p:spTree>
    <p:extLst>
      <p:ext uri="{BB962C8B-B14F-4D97-AF65-F5344CB8AC3E}">
        <p14:creationId xmlns:p14="http://schemas.microsoft.com/office/powerpoint/2010/main" xmlns="" val="1079981341"/>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193E4E7-A81C-BA28-DACA-3D2F85CA4DDB}"/>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xmlns="" id="{7D3100BA-B70B-8F81-5E9B-3CA88D0EF397}"/>
              </a:ext>
            </a:extLst>
          </p:cNvPr>
          <p:cNvGrpSpPr/>
          <p:nvPr/>
        </p:nvGrpSpPr>
        <p:grpSpPr>
          <a:xfrm>
            <a:off x="120406" y="5635385"/>
            <a:ext cx="11951185" cy="1222615"/>
            <a:chOff x="120406" y="5635385"/>
            <a:chExt cx="11951185" cy="1222615"/>
          </a:xfrm>
        </p:grpSpPr>
        <p:grpSp>
          <p:nvGrpSpPr>
            <p:cNvPr id="3" name="Group 2">
              <a:extLst>
                <a:ext uri="{FF2B5EF4-FFF2-40B4-BE49-F238E27FC236}">
                  <a16:creationId xmlns:a16="http://schemas.microsoft.com/office/drawing/2014/main" xmlns="" id="{C4ADDEC0-CE42-29B9-BFBB-569D772C9BFD}"/>
                </a:ext>
              </a:extLst>
            </p:cNvPr>
            <p:cNvGrpSpPr/>
            <p:nvPr/>
          </p:nvGrpSpPr>
          <p:grpSpPr>
            <a:xfrm>
              <a:off x="267057" y="5635385"/>
              <a:ext cx="10303749" cy="1222615"/>
              <a:chOff x="50842" y="5529493"/>
              <a:chExt cx="11659590" cy="1249792"/>
            </a:xfrm>
          </p:grpSpPr>
          <p:pic>
            <p:nvPicPr>
              <p:cNvPr id="8" name="Picture 7" descr="A black background with red text&#10;&#10;Description automatically generated">
                <a:extLst>
                  <a:ext uri="{FF2B5EF4-FFF2-40B4-BE49-F238E27FC236}">
                    <a16:creationId xmlns:a16="http://schemas.microsoft.com/office/drawing/2014/main" xmlns="" id="{82E8CA33-A2BD-CEA1-7508-95C81F6D4406}"/>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b="68890"/>
              <a:stretch/>
            </p:blipFill>
            <p:spPr>
              <a:xfrm>
                <a:off x="50842" y="5610789"/>
                <a:ext cx="3592289" cy="1072139"/>
              </a:xfrm>
              <a:prstGeom prst="rect">
                <a:avLst/>
              </a:prstGeom>
            </p:spPr>
          </p:pic>
          <p:pic>
            <p:nvPicPr>
              <p:cNvPr id="12" name="Picture 11" descr="A blue and green logo&#10;&#10;Description automatically generated">
                <a:extLst>
                  <a:ext uri="{FF2B5EF4-FFF2-40B4-BE49-F238E27FC236}">
                    <a16:creationId xmlns:a16="http://schemas.microsoft.com/office/drawing/2014/main" xmlns="" id="{8AF34F9B-856E-8969-6A24-FC3FD6FD13B2}"/>
                  </a:ext>
                </a:extLst>
              </p:cNvPr>
              <p:cNvPicPr>
                <a:picLocks noChangeAspect="1"/>
              </p:cNvPicPr>
              <p:nvPr/>
            </p:nvPicPr>
            <p:blipFill>
              <a:blip r:embed="rId3" cstate="print">
                <a:extLst>
                  <a:ext uri="{BEBA8EAE-BF5A-486C-A8C5-ECC9F3942E4B}">
                    <a14:imgProps xmlns:a14="http://schemas.microsoft.com/office/drawing/2010/main" xmlns="">
                      <a14:imgLayer r:embed="rId4">
                        <a14:imgEffect>
                          <a14:colorTemperature colorTemp="8800"/>
                        </a14:imgEffect>
                      </a14:imgLayer>
                    </a14:imgProps>
                  </a:ext>
                  <a:ext uri="{28A0092B-C50C-407E-A947-70E740481C1C}">
                    <a14:useLocalDpi xmlns:a14="http://schemas.microsoft.com/office/drawing/2010/main" xmlns="" val="0"/>
                  </a:ext>
                </a:extLst>
              </a:blip>
              <a:stretch>
                <a:fillRect/>
              </a:stretch>
            </p:blipFill>
            <p:spPr>
              <a:xfrm>
                <a:off x="10463614" y="5529493"/>
                <a:ext cx="1246818" cy="1192628"/>
              </a:xfrm>
              <a:prstGeom prst="rect">
                <a:avLst/>
              </a:prstGeom>
            </p:spPr>
          </p:pic>
          <p:pic>
            <p:nvPicPr>
              <p:cNvPr id="13" name="Picture 12" descr="A logo with blue and orange flames&#10;&#10;Description automatically generated">
                <a:extLst>
                  <a:ext uri="{FF2B5EF4-FFF2-40B4-BE49-F238E27FC236}">
                    <a16:creationId xmlns:a16="http://schemas.microsoft.com/office/drawing/2014/main" xmlns="" id="{05F34BCD-B4F5-6F5B-3CB3-FC733FDA1ED5}"/>
                  </a:ext>
                </a:extLst>
              </p:cNvPr>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8731316" y="5681282"/>
                <a:ext cx="845714" cy="1005840"/>
              </a:xfrm>
              <a:prstGeom prst="rect">
                <a:avLst/>
              </a:prstGeom>
            </p:spPr>
          </p:pic>
          <p:pic>
            <p:nvPicPr>
              <p:cNvPr id="16" name="Picture 15" descr="A red text on a white background&#10;&#10;Description automatically generated">
                <a:extLst>
                  <a:ext uri="{FF2B5EF4-FFF2-40B4-BE49-F238E27FC236}">
                    <a16:creationId xmlns:a16="http://schemas.microsoft.com/office/drawing/2014/main" xmlns="" id="{F9266AB9-A1CF-D86E-610D-8834EF4C83EF}"/>
                  </a:ext>
                </a:extLst>
              </p:cNvPr>
              <p:cNvPicPr>
                <a:picLocks noChangeAspect="1"/>
              </p:cNvPicPr>
              <p:nvPr/>
            </p:nvPicPr>
            <p:blipFill>
              <a:blip r:embed="rId6" cstate="print">
                <a:extLst>
                  <a:ext uri="{BEBA8EAE-BF5A-486C-A8C5-ECC9F3942E4B}">
                    <a14:imgProps xmlns:a14="http://schemas.microsoft.com/office/drawing/2010/main" xmlns="">
                      <a14:imgLayer r:embed="rId7">
                        <a14:imgEffect>
                          <a14:backgroundRemoval t="9921" b="89683" l="4778" r="95444">
                            <a14:foregroundMark x1="14000" y1="42063" x2="14000" y2="42063"/>
                            <a14:foregroundMark x1="14000" y1="42063" x2="13222" y2="42063"/>
                            <a14:foregroundMark x1="6222" y1="42063" x2="6222" y2="42063"/>
                            <a14:foregroundMark x1="6222" y1="42063" x2="6222" y2="42063"/>
                            <a14:foregroundMark x1="4778" y1="54762" x2="4778" y2="54762"/>
                            <a14:foregroundMark x1="4778" y1="54762" x2="4778" y2="54762"/>
                            <a14:foregroundMark x1="28667" y1="26587" x2="28667" y2="26587"/>
                            <a14:foregroundMark x1="28667" y1="26587" x2="28667" y2="26587"/>
                            <a14:foregroundMark x1="32778" y1="27381" x2="32778" y2="27381"/>
                            <a14:foregroundMark x1="38889" y1="30952" x2="38889" y2="30952"/>
                            <a14:foregroundMark x1="43556" y1="25397" x2="43556" y2="25397"/>
                            <a14:foregroundMark x1="41444" y1="25397" x2="41444" y2="25397"/>
                            <a14:foregroundMark x1="30444" y1="58730" x2="30444" y2="58730"/>
                            <a14:foregroundMark x1="35889" y1="54762" x2="35889" y2="54762"/>
                            <a14:foregroundMark x1="41000" y1="54762" x2="41000" y2="54762"/>
                            <a14:foregroundMark x1="45333" y1="59524" x2="45333" y2="59524"/>
                            <a14:foregroundMark x1="48667" y1="56746" x2="48667" y2="56746"/>
                            <a14:foregroundMark x1="60222" y1="54762" x2="60222" y2="54762"/>
                            <a14:foregroundMark x1="66444" y1="56746" x2="66444" y2="56746"/>
                            <a14:foregroundMark x1="73111" y1="58730" x2="73111" y2="58730"/>
                            <a14:foregroundMark x1="75667" y1="49603" x2="75667" y2="49603"/>
                            <a14:foregroundMark x1="79556" y1="44841" x2="79556" y2="44841"/>
                            <a14:foregroundMark x1="89333" y1="64286" x2="89333" y2="64286"/>
                            <a14:foregroundMark x1="91889" y1="64286" x2="91889" y2="64286"/>
                            <a14:foregroundMark x1="95444" y1="58730" x2="95444" y2="58730"/>
                            <a14:backgroundMark x1="55333" y1="21825" x2="68000" y2="10714"/>
                            <a14:backgroundMark x1="64889" y1="19048" x2="62111" y2="27381"/>
                          </a14:backgroundRemoval>
                        </a14:imgEffect>
                      </a14:imgLayer>
                    </a14:imgProps>
                  </a:ext>
                  <a:ext uri="{28A0092B-C50C-407E-A947-70E740481C1C}">
                    <a14:useLocalDpi xmlns:a14="http://schemas.microsoft.com/office/drawing/2010/main" xmlns="" val="0"/>
                  </a:ext>
                </a:extLst>
              </a:blip>
              <a:stretch>
                <a:fillRect/>
              </a:stretch>
            </p:blipFill>
            <p:spPr>
              <a:xfrm>
                <a:off x="4321701" y="5716280"/>
                <a:ext cx="3796444" cy="1063005"/>
              </a:xfrm>
              <a:prstGeom prst="rect">
                <a:avLst/>
              </a:prstGeom>
            </p:spPr>
          </p:pic>
        </p:grpSp>
        <p:sp>
          <p:nvSpPr>
            <p:cNvPr id="7" name="Rectangle 6">
              <a:extLst>
                <a:ext uri="{FF2B5EF4-FFF2-40B4-BE49-F238E27FC236}">
                  <a16:creationId xmlns:a16="http://schemas.microsoft.com/office/drawing/2014/main" xmlns="" id="{26519C15-DF22-35D5-4CF4-1F69B3812DA6}"/>
                </a:ext>
              </a:extLst>
            </p:cNvPr>
            <p:cNvSpPr/>
            <p:nvPr/>
          </p:nvSpPr>
          <p:spPr>
            <a:xfrm>
              <a:off x="120406" y="5819629"/>
              <a:ext cx="11951185" cy="910145"/>
            </a:xfrm>
            <a:prstGeom prst="rect">
              <a:avLst/>
            </a:prstGeom>
            <a:noFill/>
            <a:ln w="38100" cap="flat" cmpd="sng" algn="ctr">
              <a:solidFill>
                <a:srgbClr val="00237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sp>
        <p:nvSpPr>
          <p:cNvPr id="4" name="Rectangle 3">
            <a:extLst>
              <a:ext uri="{FF2B5EF4-FFF2-40B4-BE49-F238E27FC236}">
                <a16:creationId xmlns:a16="http://schemas.microsoft.com/office/drawing/2014/main" xmlns="" id="{6F983CCB-1A8F-55EC-BEE1-597FB485EE89}"/>
              </a:ext>
            </a:extLst>
          </p:cNvPr>
          <p:cNvSpPr/>
          <p:nvPr/>
        </p:nvSpPr>
        <p:spPr>
          <a:xfrm>
            <a:off x="5977217" y="3244334"/>
            <a:ext cx="237566" cy="369332"/>
          </a:xfrm>
          <a:prstGeom prst="rect">
            <a:avLst/>
          </a:prstGeom>
        </p:spPr>
        <p:txBody>
          <a:bodyPr wrap="none">
            <a:spAutoFit/>
          </a:bodyPr>
          <a:lstStyle/>
          <a:p>
            <a:r>
              <a:rPr lang="fr-FR" dirty="0"/>
              <a:t> </a:t>
            </a:r>
          </a:p>
        </p:txBody>
      </p:sp>
      <p:sp>
        <p:nvSpPr>
          <p:cNvPr id="6" name="Rectangle 5">
            <a:extLst>
              <a:ext uri="{FF2B5EF4-FFF2-40B4-BE49-F238E27FC236}">
                <a16:creationId xmlns:a16="http://schemas.microsoft.com/office/drawing/2014/main" xmlns="" id="{ACE069AF-157D-78FB-EBDA-6092018CAB75}"/>
              </a:ext>
            </a:extLst>
          </p:cNvPr>
          <p:cNvSpPr/>
          <p:nvPr/>
        </p:nvSpPr>
        <p:spPr>
          <a:xfrm>
            <a:off x="5977217" y="3244334"/>
            <a:ext cx="237566" cy="369332"/>
          </a:xfrm>
          <a:prstGeom prst="rect">
            <a:avLst/>
          </a:prstGeom>
        </p:spPr>
        <p:txBody>
          <a:bodyPr wrap="none">
            <a:spAutoFit/>
          </a:bodyPr>
          <a:lstStyle/>
          <a:p>
            <a:r>
              <a:rPr lang="fr-FR" dirty="0"/>
              <a:t> </a:t>
            </a:r>
          </a:p>
        </p:txBody>
      </p:sp>
      <p:sp>
        <p:nvSpPr>
          <p:cNvPr id="10" name="Rectangle 9">
            <a:extLst>
              <a:ext uri="{FF2B5EF4-FFF2-40B4-BE49-F238E27FC236}">
                <a16:creationId xmlns:a16="http://schemas.microsoft.com/office/drawing/2014/main" xmlns="" id="{2188F86D-A941-0C28-E770-27A4D90209DE}"/>
              </a:ext>
            </a:extLst>
          </p:cNvPr>
          <p:cNvSpPr/>
          <p:nvPr/>
        </p:nvSpPr>
        <p:spPr>
          <a:xfrm>
            <a:off x="5977217" y="3244334"/>
            <a:ext cx="237566" cy="369332"/>
          </a:xfrm>
          <a:prstGeom prst="rect">
            <a:avLst/>
          </a:prstGeom>
        </p:spPr>
        <p:txBody>
          <a:bodyPr wrap="none">
            <a:spAutoFit/>
          </a:bodyPr>
          <a:lstStyle/>
          <a:p>
            <a:r>
              <a:rPr lang="fr-FR" dirty="0"/>
              <a:t> </a:t>
            </a:r>
          </a:p>
        </p:txBody>
      </p:sp>
      <p:sp>
        <p:nvSpPr>
          <p:cNvPr id="9" name="ZoneTexte 8">
            <a:extLst>
              <a:ext uri="{FF2B5EF4-FFF2-40B4-BE49-F238E27FC236}">
                <a16:creationId xmlns:a16="http://schemas.microsoft.com/office/drawing/2014/main" xmlns="" id="{A5822CC8-F3FC-9818-D792-0359D1CC625A}"/>
              </a:ext>
            </a:extLst>
          </p:cNvPr>
          <p:cNvSpPr txBox="1"/>
          <p:nvPr/>
        </p:nvSpPr>
        <p:spPr>
          <a:xfrm>
            <a:off x="267057" y="572309"/>
            <a:ext cx="11480184" cy="1569660"/>
          </a:xfrm>
          <a:prstGeom prst="rect">
            <a:avLst/>
          </a:prstGeom>
          <a:noFill/>
        </p:spPr>
        <p:txBody>
          <a:bodyPr wrap="square" rtlCol="0">
            <a:spAutoFit/>
          </a:bodyPr>
          <a:lstStyle/>
          <a:p>
            <a:r>
              <a:rPr lang="fr-FR" sz="2400" b="1" dirty="0">
                <a:solidFill>
                  <a:srgbClr val="002371"/>
                </a:solidFill>
                <a:latin typeface="Times New Roman" panose="02020603050405020304" pitchFamily="18" charset="0"/>
                <a:cs typeface="Times New Roman" panose="02020603050405020304" pitchFamily="18" charset="0"/>
              </a:rPr>
              <a:t>1. Introduction à la partie télémétrie </a:t>
            </a:r>
          </a:p>
          <a:p>
            <a:r>
              <a:rPr lang="fr-FR" dirty="0"/>
              <a:t>La télémétrie joue un rôle fondamental dans le fonctionnement de la voiture autonome en permettant une surveillance et une transmission en temps réel des données essentielles telles que la position, la vitesse et l’état de l’environnement. Ce suivi dynamique est indispensable pour garantir la sécurité et l’efficacité du véhicule, en assurant une prise de décision rapide et une adaptation aux conditions changeantes.</a:t>
            </a:r>
            <a:endParaRPr lang="x-none" dirty="0"/>
          </a:p>
        </p:txBody>
      </p:sp>
      <p:pic>
        <p:nvPicPr>
          <p:cNvPr id="5" name="Picture 4" descr="Aucune description disponible.">
            <a:extLst>
              <a:ext uri="{FF2B5EF4-FFF2-40B4-BE49-F238E27FC236}">
                <a16:creationId xmlns:a16="http://schemas.microsoft.com/office/drawing/2014/main" xmlns="" id="{BB30CC2A-15EE-EB92-0199-E81E90AC9E68}"/>
              </a:ext>
            </a:extLst>
          </p:cNvPr>
          <p:cNvPicPr>
            <a:picLocks noChangeAspect="1" noChangeArrowheads="1"/>
          </p:cNvPicPr>
          <p:nvPr/>
        </p:nvPicPr>
        <p:blipFill>
          <a:blip r:embed="rId8" cstate="print">
            <a:extLst>
              <a:ext uri="{28A0092B-C50C-407E-A947-70E740481C1C}">
                <a14:useLocalDpi xmlns:a14="http://schemas.microsoft.com/office/drawing/2010/main" xmlns="" val="0"/>
              </a:ext>
            </a:extLst>
          </a:blip>
          <a:srcRect/>
          <a:stretch>
            <a:fillRect/>
          </a:stretch>
        </p:blipFill>
        <p:spPr bwMode="auto">
          <a:xfrm>
            <a:off x="1882816" y="2132429"/>
            <a:ext cx="7473219" cy="3418385"/>
          </a:xfrm>
          <a:prstGeom prst="rect">
            <a:avLst/>
          </a:prstGeom>
          <a:noFill/>
          <a:extLst>
            <a:ext uri="{909E8E84-426E-40DD-AFC4-6F175D3DCCD1}">
              <a14:hiddenFill xmlns:a14="http://schemas.microsoft.com/office/drawing/2010/main" xmlns="">
                <a:solidFill>
                  <a:srgbClr val="FFFFFF"/>
                </a:solidFill>
              </a14:hiddenFill>
            </a:ext>
          </a:extLst>
        </p:spPr>
      </p:pic>
      <p:sp>
        <p:nvSpPr>
          <p:cNvPr id="14" name="TextBox 18">
            <a:extLst>
              <a:ext uri="{FF2B5EF4-FFF2-40B4-BE49-F238E27FC236}">
                <a16:creationId xmlns:a16="http://schemas.microsoft.com/office/drawing/2014/main" xmlns="" id="{66C6E174-C10E-F7C8-05C6-09B77E7BC298}"/>
              </a:ext>
            </a:extLst>
          </p:cNvPr>
          <p:cNvSpPr txBox="1"/>
          <p:nvPr/>
        </p:nvSpPr>
        <p:spPr>
          <a:xfrm>
            <a:off x="11354293" y="5902967"/>
            <a:ext cx="444352" cy="707886"/>
          </a:xfrm>
          <a:prstGeom prst="rect">
            <a:avLst/>
          </a:prstGeom>
          <a:noFill/>
        </p:spPr>
        <p:txBody>
          <a:bodyPr wrap="none" rtlCol="0">
            <a:spAutoFit/>
          </a:bodyPr>
          <a:lstStyle/>
          <a:p>
            <a:r>
              <a:rPr lang="en-US" sz="4000" b="1" dirty="0" smtClean="0">
                <a:solidFill>
                  <a:srgbClr val="821634"/>
                </a:solidFill>
              </a:rPr>
              <a:t>3</a:t>
            </a:r>
          </a:p>
        </p:txBody>
      </p:sp>
    </p:spTree>
    <p:extLst>
      <p:ext uri="{BB962C8B-B14F-4D97-AF65-F5344CB8AC3E}">
        <p14:creationId xmlns:p14="http://schemas.microsoft.com/office/powerpoint/2010/main" xmlns="" val="1809206990"/>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6">
            <a:extLst>
              <a:ext uri="{FF2B5EF4-FFF2-40B4-BE49-F238E27FC236}">
                <a16:creationId xmlns:a16="http://schemas.microsoft.com/office/drawing/2014/main" xmlns="" id="{FE7108D7-3347-7626-FF5E-489E623A0EDD}"/>
              </a:ext>
            </a:extLst>
          </p:cNvPr>
          <p:cNvGrpSpPr/>
          <p:nvPr/>
        </p:nvGrpSpPr>
        <p:grpSpPr>
          <a:xfrm>
            <a:off x="120406" y="5652970"/>
            <a:ext cx="11951185" cy="1222615"/>
            <a:chOff x="120406" y="5635385"/>
            <a:chExt cx="11951185" cy="1222615"/>
          </a:xfrm>
        </p:grpSpPr>
        <p:grpSp>
          <p:nvGrpSpPr>
            <p:cNvPr id="5" name="Group 17">
              <a:extLst>
                <a:ext uri="{FF2B5EF4-FFF2-40B4-BE49-F238E27FC236}">
                  <a16:creationId xmlns:a16="http://schemas.microsoft.com/office/drawing/2014/main" xmlns="" id="{C623EA9B-9912-53F9-B00C-124B6ED38A26}"/>
                </a:ext>
              </a:extLst>
            </p:cNvPr>
            <p:cNvGrpSpPr/>
            <p:nvPr/>
          </p:nvGrpSpPr>
          <p:grpSpPr>
            <a:xfrm>
              <a:off x="267057" y="5635385"/>
              <a:ext cx="10303749" cy="1222615"/>
              <a:chOff x="50842" y="5529493"/>
              <a:chExt cx="11659590" cy="1249792"/>
            </a:xfrm>
          </p:grpSpPr>
          <p:pic>
            <p:nvPicPr>
              <p:cNvPr id="8" name="Picture 20" descr="A black background with red text&#10;&#10;Description automatically generated">
                <a:extLst>
                  <a:ext uri="{FF2B5EF4-FFF2-40B4-BE49-F238E27FC236}">
                    <a16:creationId xmlns:a16="http://schemas.microsoft.com/office/drawing/2014/main" xmlns="" id="{1AADA751-60CF-091C-A8C9-59E78C49AE57}"/>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b="68890"/>
              <a:stretch/>
            </p:blipFill>
            <p:spPr>
              <a:xfrm>
                <a:off x="50842" y="5610789"/>
                <a:ext cx="3592289" cy="1072139"/>
              </a:xfrm>
              <a:prstGeom prst="rect">
                <a:avLst/>
              </a:prstGeom>
            </p:spPr>
          </p:pic>
          <p:pic>
            <p:nvPicPr>
              <p:cNvPr id="9" name="Picture 21" descr="A blue and green logo&#10;&#10;Description automatically generated">
                <a:extLst>
                  <a:ext uri="{FF2B5EF4-FFF2-40B4-BE49-F238E27FC236}">
                    <a16:creationId xmlns:a16="http://schemas.microsoft.com/office/drawing/2014/main" xmlns="" id="{B6D7E2A4-D638-EF37-C922-5912A7C67742}"/>
                  </a:ext>
                </a:extLst>
              </p:cNvPr>
              <p:cNvPicPr>
                <a:picLocks noChangeAspect="1"/>
              </p:cNvPicPr>
              <p:nvPr/>
            </p:nvPicPr>
            <p:blipFill>
              <a:blip r:embed="rId3" cstate="print">
                <a:extLst>
                  <a:ext uri="{BEBA8EAE-BF5A-486C-A8C5-ECC9F3942E4B}">
                    <a14:imgProps xmlns:a14="http://schemas.microsoft.com/office/drawing/2010/main" xmlns="">
                      <a14:imgLayer r:embed="rId4">
                        <a14:imgEffect>
                          <a14:colorTemperature colorTemp="8800"/>
                        </a14:imgEffect>
                      </a14:imgLayer>
                    </a14:imgProps>
                  </a:ext>
                  <a:ext uri="{28A0092B-C50C-407E-A947-70E740481C1C}">
                    <a14:useLocalDpi xmlns:a14="http://schemas.microsoft.com/office/drawing/2010/main" xmlns="" val="0"/>
                  </a:ext>
                </a:extLst>
              </a:blip>
              <a:stretch>
                <a:fillRect/>
              </a:stretch>
            </p:blipFill>
            <p:spPr>
              <a:xfrm>
                <a:off x="10463614" y="5529493"/>
                <a:ext cx="1246818" cy="1192628"/>
              </a:xfrm>
              <a:prstGeom prst="rect">
                <a:avLst/>
              </a:prstGeom>
            </p:spPr>
          </p:pic>
          <p:pic>
            <p:nvPicPr>
              <p:cNvPr id="10" name="Picture 22" descr="A logo with blue and orange flames&#10;&#10;Description automatically generated">
                <a:extLst>
                  <a:ext uri="{FF2B5EF4-FFF2-40B4-BE49-F238E27FC236}">
                    <a16:creationId xmlns:a16="http://schemas.microsoft.com/office/drawing/2014/main" xmlns="" id="{A686B265-EF1A-FD07-906C-C49500D5FF40}"/>
                  </a:ext>
                </a:extLst>
              </p:cNvPr>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8731316" y="5681282"/>
                <a:ext cx="845714" cy="1005840"/>
              </a:xfrm>
              <a:prstGeom prst="rect">
                <a:avLst/>
              </a:prstGeom>
            </p:spPr>
          </p:pic>
          <p:pic>
            <p:nvPicPr>
              <p:cNvPr id="11" name="Picture 23" descr="A red text on a white background&#10;&#10;Description automatically generated">
                <a:extLst>
                  <a:ext uri="{FF2B5EF4-FFF2-40B4-BE49-F238E27FC236}">
                    <a16:creationId xmlns:a16="http://schemas.microsoft.com/office/drawing/2014/main" xmlns="" id="{41D8D337-EDCE-0623-AC8E-623AFE663EAF}"/>
                  </a:ext>
                </a:extLst>
              </p:cNvPr>
              <p:cNvPicPr>
                <a:picLocks noChangeAspect="1"/>
              </p:cNvPicPr>
              <p:nvPr/>
            </p:nvPicPr>
            <p:blipFill>
              <a:blip r:embed="rId6" cstate="print">
                <a:extLst>
                  <a:ext uri="{BEBA8EAE-BF5A-486C-A8C5-ECC9F3942E4B}">
                    <a14:imgProps xmlns:a14="http://schemas.microsoft.com/office/drawing/2010/main" xmlns="">
                      <a14:imgLayer r:embed="rId7">
                        <a14:imgEffect>
                          <a14:backgroundRemoval t="9921" b="89683" l="4778" r="95444">
                            <a14:foregroundMark x1="14000" y1="42063" x2="14000" y2="42063"/>
                            <a14:foregroundMark x1="14000" y1="42063" x2="13222" y2="42063"/>
                            <a14:foregroundMark x1="6222" y1="42063" x2="6222" y2="42063"/>
                            <a14:foregroundMark x1="6222" y1="42063" x2="6222" y2="42063"/>
                            <a14:foregroundMark x1="4778" y1="54762" x2="4778" y2="54762"/>
                            <a14:foregroundMark x1="4778" y1="54762" x2="4778" y2="54762"/>
                            <a14:foregroundMark x1="28667" y1="26587" x2="28667" y2="26587"/>
                            <a14:foregroundMark x1="28667" y1="26587" x2="28667" y2="26587"/>
                            <a14:foregroundMark x1="32778" y1="27381" x2="32778" y2="27381"/>
                            <a14:foregroundMark x1="38889" y1="30952" x2="38889" y2="30952"/>
                            <a14:foregroundMark x1="43556" y1="25397" x2="43556" y2="25397"/>
                            <a14:foregroundMark x1="41444" y1="25397" x2="41444" y2="25397"/>
                            <a14:foregroundMark x1="30444" y1="58730" x2="30444" y2="58730"/>
                            <a14:foregroundMark x1="35889" y1="54762" x2="35889" y2="54762"/>
                            <a14:foregroundMark x1="41000" y1="54762" x2="41000" y2="54762"/>
                            <a14:foregroundMark x1="45333" y1="59524" x2="45333" y2="59524"/>
                            <a14:foregroundMark x1="48667" y1="56746" x2="48667" y2="56746"/>
                            <a14:foregroundMark x1="60222" y1="54762" x2="60222" y2="54762"/>
                            <a14:foregroundMark x1="66444" y1="56746" x2="66444" y2="56746"/>
                            <a14:foregroundMark x1="73111" y1="58730" x2="73111" y2="58730"/>
                            <a14:foregroundMark x1="75667" y1="49603" x2="75667" y2="49603"/>
                            <a14:foregroundMark x1="79556" y1="44841" x2="79556" y2="44841"/>
                            <a14:foregroundMark x1="89333" y1="64286" x2="89333" y2="64286"/>
                            <a14:foregroundMark x1="91889" y1="64286" x2="91889" y2="64286"/>
                            <a14:foregroundMark x1="95444" y1="58730" x2="95444" y2="58730"/>
                            <a14:backgroundMark x1="55333" y1="21825" x2="68000" y2="10714"/>
                            <a14:backgroundMark x1="64889" y1="19048" x2="62111" y2="27381"/>
                          </a14:backgroundRemoval>
                        </a14:imgEffect>
                      </a14:imgLayer>
                    </a14:imgProps>
                  </a:ext>
                  <a:ext uri="{28A0092B-C50C-407E-A947-70E740481C1C}">
                    <a14:useLocalDpi xmlns:a14="http://schemas.microsoft.com/office/drawing/2010/main" xmlns="" val="0"/>
                  </a:ext>
                </a:extLst>
              </a:blip>
              <a:stretch>
                <a:fillRect/>
              </a:stretch>
            </p:blipFill>
            <p:spPr>
              <a:xfrm>
                <a:off x="4321701" y="5716280"/>
                <a:ext cx="3796444" cy="1063005"/>
              </a:xfrm>
              <a:prstGeom prst="rect">
                <a:avLst/>
              </a:prstGeom>
            </p:spPr>
          </p:pic>
        </p:grpSp>
        <p:sp>
          <p:nvSpPr>
            <p:cNvPr id="6" name="TextBox 18">
              <a:extLst>
                <a:ext uri="{FF2B5EF4-FFF2-40B4-BE49-F238E27FC236}">
                  <a16:creationId xmlns:a16="http://schemas.microsoft.com/office/drawing/2014/main" xmlns="" id="{66C6E174-C10E-F7C8-05C6-09B77E7BC298}"/>
                </a:ext>
              </a:extLst>
            </p:cNvPr>
            <p:cNvSpPr txBox="1"/>
            <p:nvPr/>
          </p:nvSpPr>
          <p:spPr>
            <a:xfrm>
              <a:off x="11354293" y="5885382"/>
              <a:ext cx="444352" cy="707886"/>
            </a:xfrm>
            <a:prstGeom prst="rect">
              <a:avLst/>
            </a:prstGeom>
            <a:noFill/>
          </p:spPr>
          <p:txBody>
            <a:bodyPr wrap="none" rtlCol="0">
              <a:spAutoFit/>
            </a:bodyPr>
            <a:lstStyle/>
            <a:p>
              <a:r>
                <a:rPr lang="en-US" sz="4000" b="1" dirty="0" smtClean="0">
                  <a:solidFill>
                    <a:srgbClr val="821634"/>
                  </a:solidFill>
                </a:rPr>
                <a:t>4</a:t>
              </a:r>
            </a:p>
          </p:txBody>
        </p:sp>
        <p:sp>
          <p:nvSpPr>
            <p:cNvPr id="7" name="Rectangle 6">
              <a:extLst>
                <a:ext uri="{FF2B5EF4-FFF2-40B4-BE49-F238E27FC236}">
                  <a16:creationId xmlns:a16="http://schemas.microsoft.com/office/drawing/2014/main" xmlns="" id="{E247B563-1C64-CB53-348C-DDE01D7DEF12}"/>
                </a:ext>
              </a:extLst>
            </p:cNvPr>
            <p:cNvSpPr/>
            <p:nvPr/>
          </p:nvSpPr>
          <p:spPr>
            <a:xfrm>
              <a:off x="120406" y="5819629"/>
              <a:ext cx="11951185" cy="910145"/>
            </a:xfrm>
            <a:prstGeom prst="rect">
              <a:avLst/>
            </a:prstGeom>
            <a:noFill/>
            <a:ln w="38100" cap="flat" cmpd="sng" algn="ctr">
              <a:solidFill>
                <a:srgbClr val="00237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sp>
        <p:nvSpPr>
          <p:cNvPr id="12" name="Rectangle 11"/>
          <p:cNvSpPr/>
          <p:nvPr/>
        </p:nvSpPr>
        <p:spPr>
          <a:xfrm>
            <a:off x="456409" y="230588"/>
            <a:ext cx="5204695" cy="769441"/>
          </a:xfrm>
          <a:prstGeom prst="rect">
            <a:avLst/>
          </a:prstGeom>
        </p:spPr>
        <p:txBody>
          <a:bodyPr wrap="none">
            <a:spAutoFit/>
          </a:bodyPr>
          <a:lstStyle/>
          <a:p>
            <a:r>
              <a:rPr lang="fr-FR" sz="4400" b="1" dirty="0">
                <a:solidFill>
                  <a:srgbClr val="80001F"/>
                </a:solidFill>
                <a:latin typeface="Times New Roman" panose="02020603050405020304" pitchFamily="18" charset="0"/>
                <a:cs typeface="Times New Roman" panose="02020603050405020304" pitchFamily="18" charset="0"/>
              </a:rPr>
              <a:t>Les parties du projet</a:t>
            </a:r>
            <a:endParaRPr lang="fr-FR" sz="4400" dirty="0">
              <a:solidFill>
                <a:srgbClr val="80001F"/>
              </a:solidFill>
            </a:endParaRPr>
          </a:p>
        </p:txBody>
      </p:sp>
      <p:sp>
        <p:nvSpPr>
          <p:cNvPr id="14" name="Ellipse 13"/>
          <p:cNvSpPr/>
          <p:nvPr/>
        </p:nvSpPr>
        <p:spPr>
          <a:xfrm>
            <a:off x="267057" y="1890863"/>
            <a:ext cx="3214801" cy="2426539"/>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sz="2800" b="1" dirty="0">
                <a:latin typeface="Times New Roman" panose="02020603050405020304" pitchFamily="18" charset="0"/>
                <a:cs typeface="Times New Roman" panose="02020603050405020304" pitchFamily="18" charset="0"/>
              </a:rPr>
              <a:t>Acquisition des données de capteurs</a:t>
            </a:r>
          </a:p>
        </p:txBody>
      </p:sp>
      <p:sp>
        <p:nvSpPr>
          <p:cNvPr id="15" name="Ellipse 14"/>
          <p:cNvSpPr/>
          <p:nvPr/>
        </p:nvSpPr>
        <p:spPr>
          <a:xfrm>
            <a:off x="3982311" y="1887657"/>
            <a:ext cx="4202723" cy="262010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sz="2800" b="1" dirty="0">
                <a:latin typeface="Times New Roman" panose="02020603050405020304" pitchFamily="18" charset="0"/>
                <a:cs typeface="Times New Roman" panose="02020603050405020304" pitchFamily="18" charset="0"/>
              </a:rPr>
              <a:t>Transmission de données des capteurs</a:t>
            </a:r>
          </a:p>
        </p:txBody>
      </p:sp>
      <p:sp>
        <p:nvSpPr>
          <p:cNvPr id="16" name="Ellipse 15"/>
          <p:cNvSpPr/>
          <p:nvPr/>
        </p:nvSpPr>
        <p:spPr>
          <a:xfrm>
            <a:off x="8685488" y="1944339"/>
            <a:ext cx="3289635" cy="254097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sz="2800" b="1" dirty="0">
                <a:latin typeface="Times New Roman" panose="02020603050405020304" pitchFamily="18" charset="0"/>
                <a:cs typeface="Times New Roman" panose="02020603050405020304" pitchFamily="18" charset="0"/>
              </a:rPr>
              <a:t>Affichage de données de capteurs</a:t>
            </a:r>
          </a:p>
        </p:txBody>
      </p:sp>
    </p:spTree>
    <p:extLst>
      <p:ext uri="{BB962C8B-B14F-4D97-AF65-F5344CB8AC3E}">
        <p14:creationId xmlns:p14="http://schemas.microsoft.com/office/powerpoint/2010/main" xmlns="" val="945541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xmlns="" id="{9C2C7235-C1D5-A015-D84C-40955B26C675}"/>
              </a:ext>
            </a:extLst>
          </p:cNvPr>
          <p:cNvGrpSpPr/>
          <p:nvPr/>
        </p:nvGrpSpPr>
        <p:grpSpPr>
          <a:xfrm>
            <a:off x="120406" y="5635385"/>
            <a:ext cx="11951185" cy="1222615"/>
            <a:chOff x="120406" y="5635385"/>
            <a:chExt cx="11951185" cy="1222615"/>
          </a:xfrm>
        </p:grpSpPr>
        <p:grpSp>
          <p:nvGrpSpPr>
            <p:cNvPr id="8" name="Group 7">
              <a:extLst>
                <a:ext uri="{FF2B5EF4-FFF2-40B4-BE49-F238E27FC236}">
                  <a16:creationId xmlns:a16="http://schemas.microsoft.com/office/drawing/2014/main" xmlns="" id="{8E2BBBAE-793A-470F-E579-D30AF2117A7F}"/>
                </a:ext>
              </a:extLst>
            </p:cNvPr>
            <p:cNvGrpSpPr/>
            <p:nvPr/>
          </p:nvGrpSpPr>
          <p:grpSpPr>
            <a:xfrm>
              <a:off x="267057" y="5635385"/>
              <a:ext cx="10303749" cy="1222615"/>
              <a:chOff x="50842" y="5529493"/>
              <a:chExt cx="11659590" cy="1249792"/>
            </a:xfrm>
          </p:grpSpPr>
          <p:pic>
            <p:nvPicPr>
              <p:cNvPr id="4" name="Picture 3" descr="A black background with red text&#10;&#10;Description automatically generated">
                <a:extLst>
                  <a:ext uri="{FF2B5EF4-FFF2-40B4-BE49-F238E27FC236}">
                    <a16:creationId xmlns:a16="http://schemas.microsoft.com/office/drawing/2014/main" xmlns="" id="{EC88027C-DD7E-8579-1CAC-D4293D1DA5FE}"/>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b="68890"/>
              <a:stretch/>
            </p:blipFill>
            <p:spPr>
              <a:xfrm>
                <a:off x="50842" y="5610789"/>
                <a:ext cx="3592289" cy="1072139"/>
              </a:xfrm>
              <a:prstGeom prst="rect">
                <a:avLst/>
              </a:prstGeom>
            </p:spPr>
          </p:pic>
          <p:pic>
            <p:nvPicPr>
              <p:cNvPr id="9" name="Picture 8" descr="A blue and green logo&#10;&#10;Description automatically generated">
                <a:extLst>
                  <a:ext uri="{FF2B5EF4-FFF2-40B4-BE49-F238E27FC236}">
                    <a16:creationId xmlns:a16="http://schemas.microsoft.com/office/drawing/2014/main" xmlns="" id="{DAA3BEB1-69B6-AB78-5B46-0FD559648C11}"/>
                  </a:ext>
                </a:extLst>
              </p:cNvPr>
              <p:cNvPicPr>
                <a:picLocks noChangeAspect="1"/>
              </p:cNvPicPr>
              <p:nvPr/>
            </p:nvPicPr>
            <p:blipFill>
              <a:blip r:embed="rId3" cstate="print">
                <a:extLst>
                  <a:ext uri="{BEBA8EAE-BF5A-486C-A8C5-ECC9F3942E4B}">
                    <a14:imgProps xmlns:a14="http://schemas.microsoft.com/office/drawing/2010/main" xmlns="">
                      <a14:imgLayer r:embed="rId4">
                        <a14:imgEffect>
                          <a14:colorTemperature colorTemp="8800"/>
                        </a14:imgEffect>
                      </a14:imgLayer>
                    </a14:imgProps>
                  </a:ext>
                  <a:ext uri="{28A0092B-C50C-407E-A947-70E740481C1C}">
                    <a14:useLocalDpi xmlns:a14="http://schemas.microsoft.com/office/drawing/2010/main" xmlns="" val="0"/>
                  </a:ext>
                </a:extLst>
              </a:blip>
              <a:stretch>
                <a:fillRect/>
              </a:stretch>
            </p:blipFill>
            <p:spPr>
              <a:xfrm>
                <a:off x="10463614" y="5529493"/>
                <a:ext cx="1246818" cy="1192628"/>
              </a:xfrm>
              <a:prstGeom prst="rect">
                <a:avLst/>
              </a:prstGeom>
            </p:spPr>
          </p:pic>
          <p:pic>
            <p:nvPicPr>
              <p:cNvPr id="14" name="Picture 13" descr="A logo with blue and orange flames&#10;&#10;Description automatically generated">
                <a:extLst>
                  <a:ext uri="{FF2B5EF4-FFF2-40B4-BE49-F238E27FC236}">
                    <a16:creationId xmlns:a16="http://schemas.microsoft.com/office/drawing/2014/main" xmlns="" id="{2C8EA889-0075-0048-3E2B-E440F3E2C5F7}"/>
                  </a:ext>
                </a:extLst>
              </p:cNvPr>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8731316" y="5681282"/>
                <a:ext cx="845714" cy="1005840"/>
              </a:xfrm>
              <a:prstGeom prst="rect">
                <a:avLst/>
              </a:prstGeom>
            </p:spPr>
          </p:pic>
          <p:pic>
            <p:nvPicPr>
              <p:cNvPr id="15" name="Picture 14" descr="A red text on a white background&#10;&#10;Description automatically generated">
                <a:extLst>
                  <a:ext uri="{FF2B5EF4-FFF2-40B4-BE49-F238E27FC236}">
                    <a16:creationId xmlns:a16="http://schemas.microsoft.com/office/drawing/2014/main" xmlns="" id="{C5256BBD-623D-EB3E-9535-84739DAB86AC}"/>
                  </a:ext>
                </a:extLst>
              </p:cNvPr>
              <p:cNvPicPr>
                <a:picLocks noChangeAspect="1"/>
              </p:cNvPicPr>
              <p:nvPr/>
            </p:nvPicPr>
            <p:blipFill>
              <a:blip r:embed="rId6" cstate="print">
                <a:extLst>
                  <a:ext uri="{BEBA8EAE-BF5A-486C-A8C5-ECC9F3942E4B}">
                    <a14:imgProps xmlns:a14="http://schemas.microsoft.com/office/drawing/2010/main" xmlns="">
                      <a14:imgLayer r:embed="rId7">
                        <a14:imgEffect>
                          <a14:backgroundRemoval t="9921" b="89683" l="4778" r="95444">
                            <a14:foregroundMark x1="14000" y1="42063" x2="14000" y2="42063"/>
                            <a14:foregroundMark x1="14000" y1="42063" x2="13222" y2="42063"/>
                            <a14:foregroundMark x1="6222" y1="42063" x2="6222" y2="42063"/>
                            <a14:foregroundMark x1="6222" y1="42063" x2="6222" y2="42063"/>
                            <a14:foregroundMark x1="4778" y1="54762" x2="4778" y2="54762"/>
                            <a14:foregroundMark x1="4778" y1="54762" x2="4778" y2="54762"/>
                            <a14:foregroundMark x1="28667" y1="26587" x2="28667" y2="26587"/>
                            <a14:foregroundMark x1="28667" y1="26587" x2="28667" y2="26587"/>
                            <a14:foregroundMark x1="32778" y1="27381" x2="32778" y2="27381"/>
                            <a14:foregroundMark x1="38889" y1="30952" x2="38889" y2="30952"/>
                            <a14:foregroundMark x1="43556" y1="25397" x2="43556" y2="25397"/>
                            <a14:foregroundMark x1="41444" y1="25397" x2="41444" y2="25397"/>
                            <a14:foregroundMark x1="30444" y1="58730" x2="30444" y2="58730"/>
                            <a14:foregroundMark x1="35889" y1="54762" x2="35889" y2="54762"/>
                            <a14:foregroundMark x1="41000" y1="54762" x2="41000" y2="54762"/>
                            <a14:foregroundMark x1="45333" y1="59524" x2="45333" y2="59524"/>
                            <a14:foregroundMark x1="48667" y1="56746" x2="48667" y2="56746"/>
                            <a14:foregroundMark x1="60222" y1="54762" x2="60222" y2="54762"/>
                            <a14:foregroundMark x1="66444" y1="56746" x2="66444" y2="56746"/>
                            <a14:foregroundMark x1="73111" y1="58730" x2="73111" y2="58730"/>
                            <a14:foregroundMark x1="75667" y1="49603" x2="75667" y2="49603"/>
                            <a14:foregroundMark x1="79556" y1="44841" x2="79556" y2="44841"/>
                            <a14:foregroundMark x1="89333" y1="64286" x2="89333" y2="64286"/>
                            <a14:foregroundMark x1="91889" y1="64286" x2="91889" y2="64286"/>
                            <a14:foregroundMark x1="95444" y1="58730" x2="95444" y2="58730"/>
                            <a14:backgroundMark x1="55333" y1="21825" x2="68000" y2="10714"/>
                            <a14:backgroundMark x1="64889" y1="19048" x2="62111" y2="27381"/>
                          </a14:backgroundRemoval>
                        </a14:imgEffect>
                      </a14:imgLayer>
                    </a14:imgProps>
                  </a:ext>
                  <a:ext uri="{28A0092B-C50C-407E-A947-70E740481C1C}">
                    <a14:useLocalDpi xmlns:a14="http://schemas.microsoft.com/office/drawing/2010/main" xmlns="" val="0"/>
                  </a:ext>
                </a:extLst>
              </a:blip>
              <a:stretch>
                <a:fillRect/>
              </a:stretch>
            </p:blipFill>
            <p:spPr>
              <a:xfrm>
                <a:off x="4321701" y="5716280"/>
                <a:ext cx="3796444" cy="1063005"/>
              </a:xfrm>
              <a:prstGeom prst="rect">
                <a:avLst/>
              </a:prstGeom>
            </p:spPr>
          </p:pic>
        </p:grpSp>
        <p:sp>
          <p:nvSpPr>
            <p:cNvPr id="7" name="TextBox 6">
              <a:extLst>
                <a:ext uri="{FF2B5EF4-FFF2-40B4-BE49-F238E27FC236}">
                  <a16:creationId xmlns:a16="http://schemas.microsoft.com/office/drawing/2014/main" xmlns="" id="{98CA8BD2-F233-F8CA-BBDA-F86C3C26CE2D}"/>
                </a:ext>
              </a:extLst>
            </p:cNvPr>
            <p:cNvSpPr txBox="1"/>
            <p:nvPr/>
          </p:nvSpPr>
          <p:spPr>
            <a:xfrm>
              <a:off x="11354293" y="5885382"/>
              <a:ext cx="444352" cy="707886"/>
            </a:xfrm>
            <a:prstGeom prst="rect">
              <a:avLst/>
            </a:prstGeom>
            <a:noFill/>
          </p:spPr>
          <p:txBody>
            <a:bodyPr wrap="none" rtlCol="0">
              <a:spAutoFit/>
            </a:bodyPr>
            <a:lstStyle/>
            <a:p>
              <a:r>
                <a:rPr lang="en-US" sz="4000" b="1" dirty="0" smtClean="0">
                  <a:solidFill>
                    <a:srgbClr val="821634"/>
                  </a:solidFill>
                </a:rPr>
                <a:t>5</a:t>
              </a:r>
              <a:endParaRPr lang="en-US" sz="4000" b="1" dirty="0">
                <a:solidFill>
                  <a:srgbClr val="821634"/>
                </a:solidFill>
              </a:endParaRPr>
            </a:p>
          </p:txBody>
        </p:sp>
        <p:sp>
          <p:nvSpPr>
            <p:cNvPr id="12" name="Rectangle 11">
              <a:extLst>
                <a:ext uri="{FF2B5EF4-FFF2-40B4-BE49-F238E27FC236}">
                  <a16:creationId xmlns:a16="http://schemas.microsoft.com/office/drawing/2014/main" xmlns="" id="{85666447-0DD4-AC9A-DCA0-FBABE84122F0}"/>
                </a:ext>
              </a:extLst>
            </p:cNvPr>
            <p:cNvSpPr/>
            <p:nvPr/>
          </p:nvSpPr>
          <p:spPr>
            <a:xfrm>
              <a:off x="120406" y="5819629"/>
              <a:ext cx="11951185" cy="910145"/>
            </a:xfrm>
            <a:prstGeom prst="rect">
              <a:avLst/>
            </a:prstGeom>
            <a:noFill/>
            <a:ln w="38100" cap="flat" cmpd="sng" algn="ctr">
              <a:solidFill>
                <a:srgbClr val="00237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sp>
        <p:nvSpPr>
          <p:cNvPr id="2" name="Rectangle 1"/>
          <p:cNvSpPr/>
          <p:nvPr/>
        </p:nvSpPr>
        <p:spPr>
          <a:xfrm>
            <a:off x="5977217" y="3244334"/>
            <a:ext cx="237566" cy="369332"/>
          </a:xfrm>
          <a:prstGeom prst="rect">
            <a:avLst/>
          </a:prstGeom>
        </p:spPr>
        <p:txBody>
          <a:bodyPr wrap="none">
            <a:spAutoFit/>
          </a:bodyPr>
          <a:lstStyle/>
          <a:p>
            <a:r>
              <a:rPr lang="fr-FR" dirty="0"/>
              <a:t> </a:t>
            </a:r>
          </a:p>
        </p:txBody>
      </p:sp>
      <p:sp>
        <p:nvSpPr>
          <p:cNvPr id="3" name="Rectangle 2"/>
          <p:cNvSpPr/>
          <p:nvPr/>
        </p:nvSpPr>
        <p:spPr>
          <a:xfrm>
            <a:off x="5977217" y="3244334"/>
            <a:ext cx="237566" cy="369332"/>
          </a:xfrm>
          <a:prstGeom prst="rect">
            <a:avLst/>
          </a:prstGeom>
        </p:spPr>
        <p:txBody>
          <a:bodyPr wrap="none">
            <a:spAutoFit/>
          </a:bodyPr>
          <a:lstStyle/>
          <a:p>
            <a:r>
              <a:rPr lang="fr-FR" dirty="0"/>
              <a:t> </a:t>
            </a:r>
          </a:p>
        </p:txBody>
      </p:sp>
      <p:sp>
        <p:nvSpPr>
          <p:cNvPr id="6" name="Rectangle 5"/>
          <p:cNvSpPr/>
          <p:nvPr/>
        </p:nvSpPr>
        <p:spPr>
          <a:xfrm>
            <a:off x="5977217" y="3244334"/>
            <a:ext cx="237566" cy="369332"/>
          </a:xfrm>
          <a:prstGeom prst="rect">
            <a:avLst/>
          </a:prstGeom>
        </p:spPr>
        <p:txBody>
          <a:bodyPr wrap="none">
            <a:spAutoFit/>
          </a:bodyPr>
          <a:lstStyle/>
          <a:p>
            <a:r>
              <a:rPr lang="fr-FR" dirty="0"/>
              <a:t> </a:t>
            </a:r>
          </a:p>
        </p:txBody>
      </p:sp>
      <p:sp>
        <p:nvSpPr>
          <p:cNvPr id="10" name="Rectangle 9"/>
          <p:cNvSpPr/>
          <p:nvPr/>
        </p:nvSpPr>
        <p:spPr>
          <a:xfrm>
            <a:off x="5977217" y="3244334"/>
            <a:ext cx="237566" cy="369332"/>
          </a:xfrm>
          <a:prstGeom prst="rect">
            <a:avLst/>
          </a:prstGeom>
        </p:spPr>
        <p:txBody>
          <a:bodyPr wrap="none">
            <a:spAutoFit/>
          </a:bodyPr>
          <a:lstStyle/>
          <a:p>
            <a:r>
              <a:rPr lang="fr-FR" dirty="0"/>
              <a:t> </a:t>
            </a:r>
          </a:p>
        </p:txBody>
      </p:sp>
      <p:sp>
        <p:nvSpPr>
          <p:cNvPr id="13" name="Rectangle 12"/>
          <p:cNvSpPr/>
          <p:nvPr/>
        </p:nvSpPr>
        <p:spPr>
          <a:xfrm>
            <a:off x="5977217" y="3244334"/>
            <a:ext cx="237566" cy="369332"/>
          </a:xfrm>
          <a:prstGeom prst="rect">
            <a:avLst/>
          </a:prstGeom>
        </p:spPr>
        <p:txBody>
          <a:bodyPr wrap="none">
            <a:spAutoFit/>
          </a:bodyPr>
          <a:lstStyle/>
          <a:p>
            <a:r>
              <a:rPr lang="fr-FR" dirty="0"/>
              <a:t> </a:t>
            </a:r>
          </a:p>
        </p:txBody>
      </p:sp>
      <p:pic>
        <p:nvPicPr>
          <p:cNvPr id="5" name="Image 13" descr="Une image contenant texte, capture d’écran, conception, prise&#10;&#10;Description générée automatiquement">
            <a:extLst>
              <a:ext uri="{FF2B5EF4-FFF2-40B4-BE49-F238E27FC236}">
                <a16:creationId xmlns:a16="http://schemas.microsoft.com/office/drawing/2014/main" xmlns="" id="{D1DB7299-ACED-767A-1A93-017D9516B92B}"/>
              </a:ext>
            </a:extLst>
          </p:cNvPr>
          <p:cNvPicPr>
            <a:picLocks noChangeAspect="1"/>
          </p:cNvPicPr>
          <p:nvPr/>
        </p:nvPicPr>
        <p:blipFill>
          <a:blip r:embed="rId8" cstate="print">
            <a:extLst>
              <a:ext uri="{28A0092B-C50C-407E-A947-70E740481C1C}">
                <a14:useLocalDpi xmlns:a14="http://schemas.microsoft.com/office/drawing/2010/main" xmlns="" val="0"/>
              </a:ext>
            </a:extLst>
          </a:blip>
          <a:stretch>
            <a:fillRect/>
          </a:stretch>
        </p:blipFill>
        <p:spPr>
          <a:xfrm>
            <a:off x="1618982" y="1271437"/>
            <a:ext cx="8716470" cy="3639002"/>
          </a:xfrm>
          <a:prstGeom prst="rect">
            <a:avLst/>
          </a:prstGeom>
        </p:spPr>
      </p:pic>
    </p:spTree>
    <p:extLst>
      <p:ext uri="{BB962C8B-B14F-4D97-AF65-F5344CB8AC3E}">
        <p14:creationId xmlns:p14="http://schemas.microsoft.com/office/powerpoint/2010/main" xmlns="" val="741964311"/>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77A8AC7-94C9-EDD2-EE1F-AD3C3D546EC6}"/>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xmlns="" id="{3952C8EE-C869-3CDA-3FF7-FEEE3272154C}"/>
              </a:ext>
            </a:extLst>
          </p:cNvPr>
          <p:cNvGrpSpPr/>
          <p:nvPr/>
        </p:nvGrpSpPr>
        <p:grpSpPr>
          <a:xfrm>
            <a:off x="120406" y="5635385"/>
            <a:ext cx="11951185" cy="1222615"/>
            <a:chOff x="120406" y="5635385"/>
            <a:chExt cx="11951185" cy="1222615"/>
          </a:xfrm>
        </p:grpSpPr>
        <p:grpSp>
          <p:nvGrpSpPr>
            <p:cNvPr id="8" name="Group 7">
              <a:extLst>
                <a:ext uri="{FF2B5EF4-FFF2-40B4-BE49-F238E27FC236}">
                  <a16:creationId xmlns:a16="http://schemas.microsoft.com/office/drawing/2014/main" xmlns="" id="{10F9694D-8ADA-5947-5977-EA811EE1C1FD}"/>
                </a:ext>
              </a:extLst>
            </p:cNvPr>
            <p:cNvGrpSpPr/>
            <p:nvPr/>
          </p:nvGrpSpPr>
          <p:grpSpPr>
            <a:xfrm>
              <a:off x="267057" y="5635385"/>
              <a:ext cx="10303749" cy="1222615"/>
              <a:chOff x="50842" y="5529493"/>
              <a:chExt cx="11659590" cy="1249792"/>
            </a:xfrm>
          </p:grpSpPr>
          <p:pic>
            <p:nvPicPr>
              <p:cNvPr id="4" name="Picture 3" descr="A black background with red text&#10;&#10;Description automatically generated">
                <a:extLst>
                  <a:ext uri="{FF2B5EF4-FFF2-40B4-BE49-F238E27FC236}">
                    <a16:creationId xmlns:a16="http://schemas.microsoft.com/office/drawing/2014/main" xmlns="" id="{FD2EA17B-66AC-1B7B-F4A5-F2B09D632534}"/>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b="68890"/>
              <a:stretch/>
            </p:blipFill>
            <p:spPr>
              <a:xfrm>
                <a:off x="50842" y="5610789"/>
                <a:ext cx="3592289" cy="1072139"/>
              </a:xfrm>
              <a:prstGeom prst="rect">
                <a:avLst/>
              </a:prstGeom>
            </p:spPr>
          </p:pic>
          <p:pic>
            <p:nvPicPr>
              <p:cNvPr id="9" name="Picture 8" descr="A blue and green logo&#10;&#10;Description automatically generated">
                <a:extLst>
                  <a:ext uri="{FF2B5EF4-FFF2-40B4-BE49-F238E27FC236}">
                    <a16:creationId xmlns:a16="http://schemas.microsoft.com/office/drawing/2014/main" xmlns="" id="{C227C3C0-BCD2-9843-9D9E-8BF4500FB12B}"/>
                  </a:ext>
                </a:extLst>
              </p:cNvPr>
              <p:cNvPicPr>
                <a:picLocks noChangeAspect="1"/>
              </p:cNvPicPr>
              <p:nvPr/>
            </p:nvPicPr>
            <p:blipFill>
              <a:blip r:embed="rId3" cstate="print">
                <a:extLst>
                  <a:ext uri="{BEBA8EAE-BF5A-486C-A8C5-ECC9F3942E4B}">
                    <a14:imgProps xmlns:a14="http://schemas.microsoft.com/office/drawing/2010/main" xmlns="">
                      <a14:imgLayer r:embed="rId4">
                        <a14:imgEffect>
                          <a14:colorTemperature colorTemp="8800"/>
                        </a14:imgEffect>
                      </a14:imgLayer>
                    </a14:imgProps>
                  </a:ext>
                  <a:ext uri="{28A0092B-C50C-407E-A947-70E740481C1C}">
                    <a14:useLocalDpi xmlns:a14="http://schemas.microsoft.com/office/drawing/2010/main" xmlns="" val="0"/>
                  </a:ext>
                </a:extLst>
              </a:blip>
              <a:stretch>
                <a:fillRect/>
              </a:stretch>
            </p:blipFill>
            <p:spPr>
              <a:xfrm>
                <a:off x="10463614" y="5529493"/>
                <a:ext cx="1246818" cy="1192628"/>
              </a:xfrm>
              <a:prstGeom prst="rect">
                <a:avLst/>
              </a:prstGeom>
            </p:spPr>
          </p:pic>
          <p:pic>
            <p:nvPicPr>
              <p:cNvPr id="14" name="Picture 13" descr="A logo with blue and orange flames&#10;&#10;Description automatically generated">
                <a:extLst>
                  <a:ext uri="{FF2B5EF4-FFF2-40B4-BE49-F238E27FC236}">
                    <a16:creationId xmlns:a16="http://schemas.microsoft.com/office/drawing/2014/main" xmlns="" id="{92636744-CE76-276A-FA78-E45751866D1E}"/>
                  </a:ext>
                </a:extLst>
              </p:cNvPr>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8731316" y="5681282"/>
                <a:ext cx="845714" cy="1005840"/>
              </a:xfrm>
              <a:prstGeom prst="rect">
                <a:avLst/>
              </a:prstGeom>
            </p:spPr>
          </p:pic>
          <p:pic>
            <p:nvPicPr>
              <p:cNvPr id="15" name="Picture 14" descr="A red text on a white background&#10;&#10;Description automatically generated">
                <a:extLst>
                  <a:ext uri="{FF2B5EF4-FFF2-40B4-BE49-F238E27FC236}">
                    <a16:creationId xmlns:a16="http://schemas.microsoft.com/office/drawing/2014/main" xmlns="" id="{1926139C-DC11-D8C6-D681-74A66E2BE4D2}"/>
                  </a:ext>
                </a:extLst>
              </p:cNvPr>
              <p:cNvPicPr>
                <a:picLocks noChangeAspect="1"/>
              </p:cNvPicPr>
              <p:nvPr/>
            </p:nvPicPr>
            <p:blipFill>
              <a:blip r:embed="rId6" cstate="print">
                <a:extLst>
                  <a:ext uri="{BEBA8EAE-BF5A-486C-A8C5-ECC9F3942E4B}">
                    <a14:imgProps xmlns:a14="http://schemas.microsoft.com/office/drawing/2010/main" xmlns="">
                      <a14:imgLayer r:embed="rId7">
                        <a14:imgEffect>
                          <a14:backgroundRemoval t="9921" b="89683" l="4778" r="95444">
                            <a14:foregroundMark x1="14000" y1="42063" x2="14000" y2="42063"/>
                            <a14:foregroundMark x1="14000" y1="42063" x2="13222" y2="42063"/>
                            <a14:foregroundMark x1="6222" y1="42063" x2="6222" y2="42063"/>
                            <a14:foregroundMark x1="6222" y1="42063" x2="6222" y2="42063"/>
                            <a14:foregroundMark x1="4778" y1="54762" x2="4778" y2="54762"/>
                            <a14:foregroundMark x1="4778" y1="54762" x2="4778" y2="54762"/>
                            <a14:foregroundMark x1="28667" y1="26587" x2="28667" y2="26587"/>
                            <a14:foregroundMark x1="28667" y1="26587" x2="28667" y2="26587"/>
                            <a14:foregroundMark x1="32778" y1="27381" x2="32778" y2="27381"/>
                            <a14:foregroundMark x1="38889" y1="30952" x2="38889" y2="30952"/>
                            <a14:foregroundMark x1="43556" y1="25397" x2="43556" y2="25397"/>
                            <a14:foregroundMark x1="41444" y1="25397" x2="41444" y2="25397"/>
                            <a14:foregroundMark x1="30444" y1="58730" x2="30444" y2="58730"/>
                            <a14:foregroundMark x1="35889" y1="54762" x2="35889" y2="54762"/>
                            <a14:foregroundMark x1="41000" y1="54762" x2="41000" y2="54762"/>
                            <a14:foregroundMark x1="45333" y1="59524" x2="45333" y2="59524"/>
                            <a14:foregroundMark x1="48667" y1="56746" x2="48667" y2="56746"/>
                            <a14:foregroundMark x1="60222" y1="54762" x2="60222" y2="54762"/>
                            <a14:foregroundMark x1="66444" y1="56746" x2="66444" y2="56746"/>
                            <a14:foregroundMark x1="73111" y1="58730" x2="73111" y2="58730"/>
                            <a14:foregroundMark x1="75667" y1="49603" x2="75667" y2="49603"/>
                            <a14:foregroundMark x1="79556" y1="44841" x2="79556" y2="44841"/>
                            <a14:foregroundMark x1="89333" y1="64286" x2="89333" y2="64286"/>
                            <a14:foregroundMark x1="91889" y1="64286" x2="91889" y2="64286"/>
                            <a14:foregroundMark x1="95444" y1="58730" x2="95444" y2="58730"/>
                            <a14:backgroundMark x1="55333" y1="21825" x2="68000" y2="10714"/>
                            <a14:backgroundMark x1="64889" y1="19048" x2="62111" y2="27381"/>
                          </a14:backgroundRemoval>
                        </a14:imgEffect>
                      </a14:imgLayer>
                    </a14:imgProps>
                  </a:ext>
                  <a:ext uri="{28A0092B-C50C-407E-A947-70E740481C1C}">
                    <a14:useLocalDpi xmlns:a14="http://schemas.microsoft.com/office/drawing/2010/main" xmlns="" val="0"/>
                  </a:ext>
                </a:extLst>
              </a:blip>
              <a:stretch>
                <a:fillRect/>
              </a:stretch>
            </p:blipFill>
            <p:spPr>
              <a:xfrm>
                <a:off x="4321701" y="5716280"/>
                <a:ext cx="3796444" cy="1063005"/>
              </a:xfrm>
              <a:prstGeom prst="rect">
                <a:avLst/>
              </a:prstGeom>
            </p:spPr>
          </p:pic>
        </p:grpSp>
        <p:sp>
          <p:nvSpPr>
            <p:cNvPr id="7" name="TextBox 6">
              <a:extLst>
                <a:ext uri="{FF2B5EF4-FFF2-40B4-BE49-F238E27FC236}">
                  <a16:creationId xmlns:a16="http://schemas.microsoft.com/office/drawing/2014/main" xmlns="" id="{E4B88CA4-4E0B-D696-C8E1-9E87B1121D98}"/>
                </a:ext>
              </a:extLst>
            </p:cNvPr>
            <p:cNvSpPr txBox="1"/>
            <p:nvPr/>
          </p:nvSpPr>
          <p:spPr>
            <a:xfrm>
              <a:off x="11354293" y="5885382"/>
              <a:ext cx="444352" cy="707886"/>
            </a:xfrm>
            <a:prstGeom prst="rect">
              <a:avLst/>
            </a:prstGeom>
            <a:noFill/>
          </p:spPr>
          <p:txBody>
            <a:bodyPr wrap="none" rtlCol="0">
              <a:spAutoFit/>
            </a:bodyPr>
            <a:lstStyle/>
            <a:p>
              <a:r>
                <a:rPr lang="en-US" sz="4000" b="1" dirty="0" smtClean="0">
                  <a:solidFill>
                    <a:srgbClr val="821634"/>
                  </a:solidFill>
                </a:rPr>
                <a:t>6</a:t>
              </a:r>
              <a:endParaRPr lang="en-US" sz="4000" b="1" dirty="0">
                <a:solidFill>
                  <a:srgbClr val="821634"/>
                </a:solidFill>
              </a:endParaRPr>
            </a:p>
          </p:txBody>
        </p:sp>
        <p:sp>
          <p:nvSpPr>
            <p:cNvPr id="12" name="Rectangle 11">
              <a:extLst>
                <a:ext uri="{FF2B5EF4-FFF2-40B4-BE49-F238E27FC236}">
                  <a16:creationId xmlns:a16="http://schemas.microsoft.com/office/drawing/2014/main" xmlns="" id="{E6470F06-07A8-D65B-3A90-F817687B08A5}"/>
                </a:ext>
              </a:extLst>
            </p:cNvPr>
            <p:cNvSpPr/>
            <p:nvPr/>
          </p:nvSpPr>
          <p:spPr>
            <a:xfrm>
              <a:off x="120406" y="5819629"/>
              <a:ext cx="11951185" cy="910145"/>
            </a:xfrm>
            <a:prstGeom prst="rect">
              <a:avLst/>
            </a:prstGeom>
            <a:noFill/>
            <a:ln w="38100" cap="flat" cmpd="sng" algn="ctr">
              <a:solidFill>
                <a:srgbClr val="00237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sp>
        <p:nvSpPr>
          <p:cNvPr id="2" name="Rectangle 1">
            <a:extLst>
              <a:ext uri="{FF2B5EF4-FFF2-40B4-BE49-F238E27FC236}">
                <a16:creationId xmlns:a16="http://schemas.microsoft.com/office/drawing/2014/main" xmlns="" id="{C38E14DA-AD43-56D2-CADA-1CF8C928284C}"/>
              </a:ext>
            </a:extLst>
          </p:cNvPr>
          <p:cNvSpPr/>
          <p:nvPr/>
        </p:nvSpPr>
        <p:spPr>
          <a:xfrm>
            <a:off x="5977217" y="3244334"/>
            <a:ext cx="237566" cy="369332"/>
          </a:xfrm>
          <a:prstGeom prst="rect">
            <a:avLst/>
          </a:prstGeom>
        </p:spPr>
        <p:txBody>
          <a:bodyPr wrap="none">
            <a:spAutoFit/>
          </a:bodyPr>
          <a:lstStyle/>
          <a:p>
            <a:r>
              <a:rPr lang="fr-FR" dirty="0"/>
              <a:t> </a:t>
            </a:r>
          </a:p>
        </p:txBody>
      </p:sp>
      <p:sp>
        <p:nvSpPr>
          <p:cNvPr id="3" name="Rectangle 2">
            <a:extLst>
              <a:ext uri="{FF2B5EF4-FFF2-40B4-BE49-F238E27FC236}">
                <a16:creationId xmlns:a16="http://schemas.microsoft.com/office/drawing/2014/main" xmlns="" id="{5CED085B-5483-D37F-1688-F8A6D74DFD30}"/>
              </a:ext>
            </a:extLst>
          </p:cNvPr>
          <p:cNvSpPr/>
          <p:nvPr/>
        </p:nvSpPr>
        <p:spPr>
          <a:xfrm>
            <a:off x="5977217" y="3244334"/>
            <a:ext cx="237566" cy="369332"/>
          </a:xfrm>
          <a:prstGeom prst="rect">
            <a:avLst/>
          </a:prstGeom>
        </p:spPr>
        <p:txBody>
          <a:bodyPr wrap="none">
            <a:spAutoFit/>
          </a:bodyPr>
          <a:lstStyle/>
          <a:p>
            <a:r>
              <a:rPr lang="fr-FR" dirty="0"/>
              <a:t> </a:t>
            </a:r>
          </a:p>
        </p:txBody>
      </p:sp>
      <p:sp>
        <p:nvSpPr>
          <p:cNvPr id="6" name="Rectangle 5">
            <a:extLst>
              <a:ext uri="{FF2B5EF4-FFF2-40B4-BE49-F238E27FC236}">
                <a16:creationId xmlns:a16="http://schemas.microsoft.com/office/drawing/2014/main" xmlns="" id="{B70FADED-B144-CEB5-A042-02BDB6367FE0}"/>
              </a:ext>
            </a:extLst>
          </p:cNvPr>
          <p:cNvSpPr/>
          <p:nvPr/>
        </p:nvSpPr>
        <p:spPr>
          <a:xfrm>
            <a:off x="5977217" y="3244334"/>
            <a:ext cx="237566" cy="369332"/>
          </a:xfrm>
          <a:prstGeom prst="rect">
            <a:avLst/>
          </a:prstGeom>
        </p:spPr>
        <p:txBody>
          <a:bodyPr wrap="none">
            <a:spAutoFit/>
          </a:bodyPr>
          <a:lstStyle/>
          <a:p>
            <a:r>
              <a:rPr lang="fr-FR" dirty="0"/>
              <a:t> </a:t>
            </a:r>
          </a:p>
        </p:txBody>
      </p:sp>
      <p:sp>
        <p:nvSpPr>
          <p:cNvPr id="10" name="Rectangle 9">
            <a:extLst>
              <a:ext uri="{FF2B5EF4-FFF2-40B4-BE49-F238E27FC236}">
                <a16:creationId xmlns:a16="http://schemas.microsoft.com/office/drawing/2014/main" xmlns="" id="{287B4FF6-AA6A-76A3-B7B5-86C25E99ED91}"/>
              </a:ext>
            </a:extLst>
          </p:cNvPr>
          <p:cNvSpPr/>
          <p:nvPr/>
        </p:nvSpPr>
        <p:spPr>
          <a:xfrm>
            <a:off x="5977217" y="3244334"/>
            <a:ext cx="237566" cy="369332"/>
          </a:xfrm>
          <a:prstGeom prst="rect">
            <a:avLst/>
          </a:prstGeom>
        </p:spPr>
        <p:txBody>
          <a:bodyPr wrap="none">
            <a:spAutoFit/>
          </a:bodyPr>
          <a:lstStyle/>
          <a:p>
            <a:r>
              <a:rPr lang="fr-FR" dirty="0"/>
              <a:t> </a:t>
            </a:r>
          </a:p>
        </p:txBody>
      </p:sp>
      <p:sp>
        <p:nvSpPr>
          <p:cNvPr id="13" name="Rectangle 12">
            <a:extLst>
              <a:ext uri="{FF2B5EF4-FFF2-40B4-BE49-F238E27FC236}">
                <a16:creationId xmlns:a16="http://schemas.microsoft.com/office/drawing/2014/main" xmlns="" id="{CA95E316-052D-DCED-6995-BE07624149CC}"/>
              </a:ext>
            </a:extLst>
          </p:cNvPr>
          <p:cNvSpPr/>
          <p:nvPr/>
        </p:nvSpPr>
        <p:spPr>
          <a:xfrm>
            <a:off x="5977217" y="3244334"/>
            <a:ext cx="237566" cy="369332"/>
          </a:xfrm>
          <a:prstGeom prst="rect">
            <a:avLst/>
          </a:prstGeom>
        </p:spPr>
        <p:txBody>
          <a:bodyPr wrap="none">
            <a:spAutoFit/>
          </a:bodyPr>
          <a:lstStyle/>
          <a:p>
            <a:r>
              <a:rPr lang="fr-FR" dirty="0"/>
              <a:t> </a:t>
            </a:r>
          </a:p>
        </p:txBody>
      </p:sp>
      <p:sp>
        <p:nvSpPr>
          <p:cNvPr id="19" name="ZoneTexte 18">
            <a:extLst>
              <a:ext uri="{FF2B5EF4-FFF2-40B4-BE49-F238E27FC236}">
                <a16:creationId xmlns:a16="http://schemas.microsoft.com/office/drawing/2014/main" xmlns="" id="{6770E52E-B374-CC7B-FB32-CD226CBAA321}"/>
              </a:ext>
            </a:extLst>
          </p:cNvPr>
          <p:cNvSpPr txBox="1"/>
          <p:nvPr/>
        </p:nvSpPr>
        <p:spPr>
          <a:xfrm>
            <a:off x="410547" y="363894"/>
            <a:ext cx="11388098" cy="1569660"/>
          </a:xfrm>
          <a:prstGeom prst="rect">
            <a:avLst/>
          </a:prstGeom>
          <a:noFill/>
        </p:spPr>
        <p:txBody>
          <a:bodyPr wrap="square" rtlCol="0">
            <a:spAutoFit/>
          </a:bodyPr>
          <a:lstStyle/>
          <a:p>
            <a:r>
              <a:rPr lang="fr-FR" sz="2400" b="1" dirty="0">
                <a:solidFill>
                  <a:srgbClr val="002371"/>
                </a:solidFill>
                <a:latin typeface="Times New Roman" panose="02020603050405020304" pitchFamily="18" charset="0"/>
                <a:cs typeface="Times New Roman" panose="02020603050405020304" pitchFamily="18" charset="0"/>
              </a:rPr>
              <a:t>2. Avancement du projet</a:t>
            </a:r>
          </a:p>
          <a:p>
            <a:endParaRPr lang="fr-FR" b="1" dirty="0"/>
          </a:p>
          <a:p>
            <a:r>
              <a:rPr lang="fr-FR" b="1" dirty="0"/>
              <a:t>Visualisation et Interface Frontend</a:t>
            </a:r>
            <a:r>
              <a:rPr lang="fr-FR" dirty="0"/>
              <a:t> : Création d’une interface frontend intuitive pour visualiser en temps réel les données de télémétrie (position, vitesse, paramètres environnementaux) et permettre un suivi efficace de la voiture autonome. cette interface est conçue par le Framework </a:t>
            </a:r>
            <a:r>
              <a:rPr lang="fr-FR" dirty="0" err="1"/>
              <a:t>React</a:t>
            </a:r>
            <a:r>
              <a:rPr lang="fr-FR" dirty="0"/>
              <a:t> JS </a:t>
            </a:r>
            <a:endParaRPr lang="x-none" dirty="0"/>
          </a:p>
        </p:txBody>
      </p:sp>
      <p:pic>
        <p:nvPicPr>
          <p:cNvPr id="1026" name="Picture 2" descr="Ouvrir la photo">
            <a:extLst>
              <a:ext uri="{FF2B5EF4-FFF2-40B4-BE49-F238E27FC236}">
                <a16:creationId xmlns:a16="http://schemas.microsoft.com/office/drawing/2014/main" xmlns="" id="{6D6D5A14-F0E5-B565-BE38-B2B448EF5844}"/>
              </a:ext>
            </a:extLst>
          </p:cNvPr>
          <p:cNvPicPr>
            <a:picLocks noChangeAspect="1" noChangeArrowheads="1"/>
          </p:cNvPicPr>
          <p:nvPr/>
        </p:nvPicPr>
        <p:blipFill>
          <a:blip r:embed="rId8" cstate="print">
            <a:extLst>
              <a:ext uri="{28A0092B-C50C-407E-A947-70E740481C1C}">
                <a14:useLocalDpi xmlns:a14="http://schemas.microsoft.com/office/drawing/2010/main" xmlns="" val="0"/>
              </a:ext>
            </a:extLst>
          </a:blip>
          <a:srcRect/>
          <a:stretch>
            <a:fillRect/>
          </a:stretch>
        </p:blipFill>
        <p:spPr bwMode="auto">
          <a:xfrm>
            <a:off x="2575850" y="1875229"/>
            <a:ext cx="6648792" cy="385075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55073488"/>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F041996-E711-021E-5CFF-F802ABAD9B59}"/>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xmlns="" id="{7A9ECB1F-A5D5-3466-A2F2-8000D8B5DAFA}"/>
              </a:ext>
            </a:extLst>
          </p:cNvPr>
          <p:cNvGrpSpPr/>
          <p:nvPr/>
        </p:nvGrpSpPr>
        <p:grpSpPr>
          <a:xfrm>
            <a:off x="120406" y="5635385"/>
            <a:ext cx="11951185" cy="1222615"/>
            <a:chOff x="120406" y="5635385"/>
            <a:chExt cx="11951185" cy="1222615"/>
          </a:xfrm>
        </p:grpSpPr>
        <p:grpSp>
          <p:nvGrpSpPr>
            <p:cNvPr id="8" name="Group 7">
              <a:extLst>
                <a:ext uri="{FF2B5EF4-FFF2-40B4-BE49-F238E27FC236}">
                  <a16:creationId xmlns:a16="http://schemas.microsoft.com/office/drawing/2014/main" xmlns="" id="{7F094E94-2D38-FCC4-7F01-C8B1681EC82D}"/>
                </a:ext>
              </a:extLst>
            </p:cNvPr>
            <p:cNvGrpSpPr/>
            <p:nvPr/>
          </p:nvGrpSpPr>
          <p:grpSpPr>
            <a:xfrm>
              <a:off x="267057" y="5635385"/>
              <a:ext cx="10303749" cy="1222615"/>
              <a:chOff x="50842" y="5529493"/>
              <a:chExt cx="11659590" cy="1249792"/>
            </a:xfrm>
          </p:grpSpPr>
          <p:pic>
            <p:nvPicPr>
              <p:cNvPr id="4" name="Picture 3" descr="A black background with red text&#10;&#10;Description automatically generated">
                <a:extLst>
                  <a:ext uri="{FF2B5EF4-FFF2-40B4-BE49-F238E27FC236}">
                    <a16:creationId xmlns:a16="http://schemas.microsoft.com/office/drawing/2014/main" xmlns="" id="{2422A789-4B89-C7F0-A5C4-C8F633DC6734}"/>
                  </a:ext>
                </a:extLst>
              </p:cNvPr>
              <p:cNvPicPr>
                <a:picLocks noChangeAspect="1"/>
              </p:cNvPicPr>
              <p:nvPr/>
            </p:nvPicPr>
            <p:blipFill rotWithShape="1">
              <a:blip r:embed="rId3" cstate="print">
                <a:extLst>
                  <a:ext uri="{28A0092B-C50C-407E-A947-70E740481C1C}">
                    <a14:useLocalDpi xmlns:a14="http://schemas.microsoft.com/office/drawing/2010/main" xmlns="" val="0"/>
                  </a:ext>
                </a:extLst>
              </a:blip>
              <a:srcRect b="68890"/>
              <a:stretch/>
            </p:blipFill>
            <p:spPr>
              <a:xfrm>
                <a:off x="50842" y="5610789"/>
                <a:ext cx="3592289" cy="1072139"/>
              </a:xfrm>
              <a:prstGeom prst="rect">
                <a:avLst/>
              </a:prstGeom>
            </p:spPr>
          </p:pic>
          <p:pic>
            <p:nvPicPr>
              <p:cNvPr id="9" name="Picture 8" descr="A blue and green logo&#10;&#10;Description automatically generated">
                <a:extLst>
                  <a:ext uri="{FF2B5EF4-FFF2-40B4-BE49-F238E27FC236}">
                    <a16:creationId xmlns:a16="http://schemas.microsoft.com/office/drawing/2014/main" xmlns="" id="{0586250C-8B24-6F35-3863-646B90B5F3E6}"/>
                  </a:ext>
                </a:extLst>
              </p:cNvPr>
              <p:cNvPicPr>
                <a:picLocks noChangeAspect="1"/>
              </p:cNvPicPr>
              <p:nvPr/>
            </p:nvPicPr>
            <p:blipFill>
              <a:blip r:embed="rId4" cstate="print">
                <a:extLst>
                  <a:ext uri="{BEBA8EAE-BF5A-486C-A8C5-ECC9F3942E4B}">
                    <a14:imgProps xmlns:a14="http://schemas.microsoft.com/office/drawing/2010/main" xmlns="">
                      <a14:imgLayer r:embed="rId6">
                        <a14:imgEffect>
                          <a14:colorTemperature colorTemp="8800"/>
                        </a14:imgEffect>
                      </a14:imgLayer>
                    </a14:imgProps>
                  </a:ext>
                  <a:ext uri="{28A0092B-C50C-407E-A947-70E740481C1C}">
                    <a14:useLocalDpi xmlns:a14="http://schemas.microsoft.com/office/drawing/2010/main" xmlns="" val="0"/>
                  </a:ext>
                </a:extLst>
              </a:blip>
              <a:stretch>
                <a:fillRect/>
              </a:stretch>
            </p:blipFill>
            <p:spPr>
              <a:xfrm>
                <a:off x="10463614" y="5529493"/>
                <a:ext cx="1246818" cy="1192628"/>
              </a:xfrm>
              <a:prstGeom prst="rect">
                <a:avLst/>
              </a:prstGeom>
            </p:spPr>
          </p:pic>
          <p:pic>
            <p:nvPicPr>
              <p:cNvPr id="14" name="Picture 13" descr="A logo with blue and orange flames&#10;&#10;Description automatically generated">
                <a:extLst>
                  <a:ext uri="{FF2B5EF4-FFF2-40B4-BE49-F238E27FC236}">
                    <a16:creationId xmlns:a16="http://schemas.microsoft.com/office/drawing/2014/main" xmlns="" id="{45740AA2-39D4-7088-3593-752D17B27A46}"/>
                  </a:ext>
                </a:extLst>
              </p:cNvPr>
              <p:cNvPicPr>
                <a:picLocks noChangeAspect="1"/>
              </p:cNvPicPr>
              <p:nvPr/>
            </p:nvPicPr>
            <p:blipFill>
              <a:blip r:embed="rId7" cstate="print">
                <a:extLst>
                  <a:ext uri="{28A0092B-C50C-407E-A947-70E740481C1C}">
                    <a14:useLocalDpi xmlns:a14="http://schemas.microsoft.com/office/drawing/2010/main" xmlns="" val="0"/>
                  </a:ext>
                </a:extLst>
              </a:blip>
              <a:stretch>
                <a:fillRect/>
              </a:stretch>
            </p:blipFill>
            <p:spPr>
              <a:xfrm>
                <a:off x="8731316" y="5681282"/>
                <a:ext cx="845714" cy="1005840"/>
              </a:xfrm>
              <a:prstGeom prst="rect">
                <a:avLst/>
              </a:prstGeom>
            </p:spPr>
          </p:pic>
          <p:pic>
            <p:nvPicPr>
              <p:cNvPr id="15" name="Picture 14" descr="A red text on a white background&#10;&#10;Description automatically generated">
                <a:extLst>
                  <a:ext uri="{FF2B5EF4-FFF2-40B4-BE49-F238E27FC236}">
                    <a16:creationId xmlns:a16="http://schemas.microsoft.com/office/drawing/2014/main" xmlns="" id="{DC39B719-6897-D3D4-6140-77AF3595478A}"/>
                  </a:ext>
                </a:extLst>
              </p:cNvPr>
              <p:cNvPicPr>
                <a:picLocks noChangeAspect="1"/>
              </p:cNvPicPr>
              <p:nvPr/>
            </p:nvPicPr>
            <p:blipFill>
              <a:blip r:embed="rId8" cstate="print">
                <a:extLst>
                  <a:ext uri="{BEBA8EAE-BF5A-486C-A8C5-ECC9F3942E4B}">
                    <a14:imgProps xmlns:a14="http://schemas.microsoft.com/office/drawing/2010/main" xmlns="">
                      <a14:imgLayer r:embed="rId9">
                        <a14:imgEffect>
                          <a14:backgroundRemoval t="9921" b="89683" l="4778" r="95444">
                            <a14:foregroundMark x1="14000" y1="42063" x2="14000" y2="42063"/>
                            <a14:foregroundMark x1="14000" y1="42063" x2="13222" y2="42063"/>
                            <a14:foregroundMark x1="6222" y1="42063" x2="6222" y2="42063"/>
                            <a14:foregroundMark x1="6222" y1="42063" x2="6222" y2="42063"/>
                            <a14:foregroundMark x1="4778" y1="54762" x2="4778" y2="54762"/>
                            <a14:foregroundMark x1="4778" y1="54762" x2="4778" y2="54762"/>
                            <a14:foregroundMark x1="28667" y1="26587" x2="28667" y2="26587"/>
                            <a14:foregroundMark x1="28667" y1="26587" x2="28667" y2="26587"/>
                            <a14:foregroundMark x1="32778" y1="27381" x2="32778" y2="27381"/>
                            <a14:foregroundMark x1="38889" y1="30952" x2="38889" y2="30952"/>
                            <a14:foregroundMark x1="43556" y1="25397" x2="43556" y2="25397"/>
                            <a14:foregroundMark x1="41444" y1="25397" x2="41444" y2="25397"/>
                            <a14:foregroundMark x1="30444" y1="58730" x2="30444" y2="58730"/>
                            <a14:foregroundMark x1="35889" y1="54762" x2="35889" y2="54762"/>
                            <a14:foregroundMark x1="41000" y1="54762" x2="41000" y2="54762"/>
                            <a14:foregroundMark x1="45333" y1="59524" x2="45333" y2="59524"/>
                            <a14:foregroundMark x1="48667" y1="56746" x2="48667" y2="56746"/>
                            <a14:foregroundMark x1="60222" y1="54762" x2="60222" y2="54762"/>
                            <a14:foregroundMark x1="66444" y1="56746" x2="66444" y2="56746"/>
                            <a14:foregroundMark x1="73111" y1="58730" x2="73111" y2="58730"/>
                            <a14:foregroundMark x1="75667" y1="49603" x2="75667" y2="49603"/>
                            <a14:foregroundMark x1="79556" y1="44841" x2="79556" y2="44841"/>
                            <a14:foregroundMark x1="89333" y1="64286" x2="89333" y2="64286"/>
                            <a14:foregroundMark x1="91889" y1="64286" x2="91889" y2="64286"/>
                            <a14:foregroundMark x1="95444" y1="58730" x2="95444" y2="58730"/>
                            <a14:backgroundMark x1="55333" y1="21825" x2="68000" y2="10714"/>
                            <a14:backgroundMark x1="64889" y1="19048" x2="62111" y2="27381"/>
                          </a14:backgroundRemoval>
                        </a14:imgEffect>
                      </a14:imgLayer>
                    </a14:imgProps>
                  </a:ext>
                  <a:ext uri="{28A0092B-C50C-407E-A947-70E740481C1C}">
                    <a14:useLocalDpi xmlns:a14="http://schemas.microsoft.com/office/drawing/2010/main" xmlns="" val="0"/>
                  </a:ext>
                </a:extLst>
              </a:blip>
              <a:stretch>
                <a:fillRect/>
              </a:stretch>
            </p:blipFill>
            <p:spPr>
              <a:xfrm>
                <a:off x="4321701" y="5716280"/>
                <a:ext cx="3796444" cy="1063005"/>
              </a:xfrm>
              <a:prstGeom prst="rect">
                <a:avLst/>
              </a:prstGeom>
            </p:spPr>
          </p:pic>
        </p:grpSp>
        <p:sp>
          <p:nvSpPr>
            <p:cNvPr id="7" name="TextBox 6">
              <a:extLst>
                <a:ext uri="{FF2B5EF4-FFF2-40B4-BE49-F238E27FC236}">
                  <a16:creationId xmlns:a16="http://schemas.microsoft.com/office/drawing/2014/main" xmlns="" id="{A72A4DB1-C6CE-07D4-71E5-178540447204}"/>
                </a:ext>
              </a:extLst>
            </p:cNvPr>
            <p:cNvSpPr txBox="1"/>
            <p:nvPr/>
          </p:nvSpPr>
          <p:spPr>
            <a:xfrm>
              <a:off x="11354293" y="5885382"/>
              <a:ext cx="444352" cy="707886"/>
            </a:xfrm>
            <a:prstGeom prst="rect">
              <a:avLst/>
            </a:prstGeom>
            <a:noFill/>
          </p:spPr>
          <p:txBody>
            <a:bodyPr wrap="none" rtlCol="0">
              <a:spAutoFit/>
            </a:bodyPr>
            <a:lstStyle/>
            <a:p>
              <a:r>
                <a:rPr lang="en-US" sz="4000" b="1" dirty="0" smtClean="0">
                  <a:solidFill>
                    <a:srgbClr val="821634"/>
                  </a:solidFill>
                </a:rPr>
                <a:t>7</a:t>
              </a:r>
              <a:endParaRPr lang="en-US" sz="4000" b="1" dirty="0">
                <a:solidFill>
                  <a:srgbClr val="821634"/>
                </a:solidFill>
              </a:endParaRPr>
            </a:p>
          </p:txBody>
        </p:sp>
        <p:sp>
          <p:nvSpPr>
            <p:cNvPr id="12" name="Rectangle 11">
              <a:extLst>
                <a:ext uri="{FF2B5EF4-FFF2-40B4-BE49-F238E27FC236}">
                  <a16:creationId xmlns:a16="http://schemas.microsoft.com/office/drawing/2014/main" xmlns="" id="{8E343D11-FFE4-EBE6-4FA7-FDDACAE1C359}"/>
                </a:ext>
              </a:extLst>
            </p:cNvPr>
            <p:cNvSpPr/>
            <p:nvPr/>
          </p:nvSpPr>
          <p:spPr>
            <a:xfrm>
              <a:off x="120406" y="5819629"/>
              <a:ext cx="11951185" cy="910145"/>
            </a:xfrm>
            <a:prstGeom prst="rect">
              <a:avLst/>
            </a:prstGeom>
            <a:noFill/>
            <a:ln w="38100" cap="flat" cmpd="sng" algn="ctr">
              <a:solidFill>
                <a:srgbClr val="00237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sp>
        <p:nvSpPr>
          <p:cNvPr id="2" name="Rectangle 1">
            <a:extLst>
              <a:ext uri="{FF2B5EF4-FFF2-40B4-BE49-F238E27FC236}">
                <a16:creationId xmlns:a16="http://schemas.microsoft.com/office/drawing/2014/main" xmlns="" id="{81053493-AC08-7E97-3595-279319CE5D99}"/>
              </a:ext>
            </a:extLst>
          </p:cNvPr>
          <p:cNvSpPr/>
          <p:nvPr/>
        </p:nvSpPr>
        <p:spPr>
          <a:xfrm>
            <a:off x="5977217" y="3244334"/>
            <a:ext cx="237566" cy="369332"/>
          </a:xfrm>
          <a:prstGeom prst="rect">
            <a:avLst/>
          </a:prstGeom>
        </p:spPr>
        <p:txBody>
          <a:bodyPr wrap="none">
            <a:spAutoFit/>
          </a:bodyPr>
          <a:lstStyle/>
          <a:p>
            <a:r>
              <a:rPr lang="fr-FR" dirty="0"/>
              <a:t> </a:t>
            </a:r>
          </a:p>
        </p:txBody>
      </p:sp>
      <p:sp>
        <p:nvSpPr>
          <p:cNvPr id="3" name="Rectangle 2">
            <a:extLst>
              <a:ext uri="{FF2B5EF4-FFF2-40B4-BE49-F238E27FC236}">
                <a16:creationId xmlns:a16="http://schemas.microsoft.com/office/drawing/2014/main" xmlns="" id="{8C117BA9-C6F3-7E65-0695-0932011B9BD1}"/>
              </a:ext>
            </a:extLst>
          </p:cNvPr>
          <p:cNvSpPr/>
          <p:nvPr/>
        </p:nvSpPr>
        <p:spPr>
          <a:xfrm>
            <a:off x="5977217" y="3244334"/>
            <a:ext cx="237566" cy="369332"/>
          </a:xfrm>
          <a:prstGeom prst="rect">
            <a:avLst/>
          </a:prstGeom>
        </p:spPr>
        <p:txBody>
          <a:bodyPr wrap="none">
            <a:spAutoFit/>
          </a:bodyPr>
          <a:lstStyle/>
          <a:p>
            <a:r>
              <a:rPr lang="fr-FR" dirty="0"/>
              <a:t> </a:t>
            </a:r>
          </a:p>
        </p:txBody>
      </p:sp>
      <p:sp>
        <p:nvSpPr>
          <p:cNvPr id="6" name="Rectangle 5">
            <a:extLst>
              <a:ext uri="{FF2B5EF4-FFF2-40B4-BE49-F238E27FC236}">
                <a16:creationId xmlns:a16="http://schemas.microsoft.com/office/drawing/2014/main" xmlns="" id="{87C41D70-4389-10C6-3D08-9CEA509F4456}"/>
              </a:ext>
            </a:extLst>
          </p:cNvPr>
          <p:cNvSpPr/>
          <p:nvPr/>
        </p:nvSpPr>
        <p:spPr>
          <a:xfrm>
            <a:off x="5977217" y="3244334"/>
            <a:ext cx="237566" cy="369332"/>
          </a:xfrm>
          <a:prstGeom prst="rect">
            <a:avLst/>
          </a:prstGeom>
        </p:spPr>
        <p:txBody>
          <a:bodyPr wrap="none">
            <a:spAutoFit/>
          </a:bodyPr>
          <a:lstStyle/>
          <a:p>
            <a:r>
              <a:rPr lang="fr-FR" dirty="0"/>
              <a:t> </a:t>
            </a:r>
          </a:p>
        </p:txBody>
      </p:sp>
      <p:sp>
        <p:nvSpPr>
          <p:cNvPr id="10" name="Rectangle 9">
            <a:extLst>
              <a:ext uri="{FF2B5EF4-FFF2-40B4-BE49-F238E27FC236}">
                <a16:creationId xmlns:a16="http://schemas.microsoft.com/office/drawing/2014/main" xmlns="" id="{5A4491E6-62EA-7B67-77E7-624176238965}"/>
              </a:ext>
            </a:extLst>
          </p:cNvPr>
          <p:cNvSpPr/>
          <p:nvPr/>
        </p:nvSpPr>
        <p:spPr>
          <a:xfrm>
            <a:off x="5977217" y="3244334"/>
            <a:ext cx="237566" cy="369332"/>
          </a:xfrm>
          <a:prstGeom prst="rect">
            <a:avLst/>
          </a:prstGeom>
        </p:spPr>
        <p:txBody>
          <a:bodyPr wrap="none">
            <a:spAutoFit/>
          </a:bodyPr>
          <a:lstStyle/>
          <a:p>
            <a:r>
              <a:rPr lang="fr-FR" dirty="0"/>
              <a:t> </a:t>
            </a:r>
          </a:p>
        </p:txBody>
      </p:sp>
      <p:sp>
        <p:nvSpPr>
          <p:cNvPr id="13" name="Rectangle 12">
            <a:extLst>
              <a:ext uri="{FF2B5EF4-FFF2-40B4-BE49-F238E27FC236}">
                <a16:creationId xmlns:a16="http://schemas.microsoft.com/office/drawing/2014/main" xmlns="" id="{3CECE972-8D68-8A32-F5A5-96C49232CECA}"/>
              </a:ext>
            </a:extLst>
          </p:cNvPr>
          <p:cNvSpPr/>
          <p:nvPr/>
        </p:nvSpPr>
        <p:spPr>
          <a:xfrm>
            <a:off x="5977217" y="3244334"/>
            <a:ext cx="237566" cy="369332"/>
          </a:xfrm>
          <a:prstGeom prst="rect">
            <a:avLst/>
          </a:prstGeom>
        </p:spPr>
        <p:txBody>
          <a:bodyPr wrap="none">
            <a:spAutoFit/>
          </a:bodyPr>
          <a:lstStyle/>
          <a:p>
            <a:r>
              <a:rPr lang="fr-FR" dirty="0"/>
              <a:t> </a:t>
            </a:r>
          </a:p>
        </p:txBody>
      </p:sp>
      <p:sp>
        <p:nvSpPr>
          <p:cNvPr id="19" name="ZoneTexte 18">
            <a:extLst>
              <a:ext uri="{FF2B5EF4-FFF2-40B4-BE49-F238E27FC236}">
                <a16:creationId xmlns:a16="http://schemas.microsoft.com/office/drawing/2014/main" xmlns="" id="{48F44DD0-7E25-DED1-50E4-5CDC1115FDF0}"/>
              </a:ext>
            </a:extLst>
          </p:cNvPr>
          <p:cNvSpPr txBox="1"/>
          <p:nvPr/>
        </p:nvSpPr>
        <p:spPr>
          <a:xfrm>
            <a:off x="410547" y="363894"/>
            <a:ext cx="11388098" cy="923330"/>
          </a:xfrm>
          <a:prstGeom prst="rect">
            <a:avLst/>
          </a:prstGeom>
          <a:noFill/>
        </p:spPr>
        <p:txBody>
          <a:bodyPr wrap="square" rtlCol="0">
            <a:spAutoFit/>
          </a:bodyPr>
          <a:lstStyle/>
          <a:p>
            <a:r>
              <a:rPr lang="fr-FR" b="1" dirty="0"/>
              <a:t>Intégration Backend </a:t>
            </a:r>
            <a:r>
              <a:rPr lang="fr-FR" dirty="0"/>
              <a:t>: Développer un backend en Node.js capable de recevoir et traiter en continu les données de télémétrie du module LoRa </a:t>
            </a:r>
            <a:r>
              <a:rPr lang="fr-FR" dirty="0" err="1"/>
              <a:t>Receiver</a:t>
            </a:r>
            <a:r>
              <a:rPr lang="fr-FR" dirty="0"/>
              <a:t>. Ce backend utilisera WebSocket.io pour assurer une communication en temps réel avec le frontend, permettant un affichage fluide et immédiat des données de la voiture autonome.</a:t>
            </a:r>
          </a:p>
        </p:txBody>
      </p:sp>
      <p:pic>
        <p:nvPicPr>
          <p:cNvPr id="5" name="466816232_9541740545842677_3386401398698901348_n">
            <a:hlinkClick r:id="" action="ppaction://media"/>
            <a:extLst>
              <a:ext uri="{FF2B5EF4-FFF2-40B4-BE49-F238E27FC236}">
                <a16:creationId xmlns:a16="http://schemas.microsoft.com/office/drawing/2014/main" xmlns="" id="{F078025F-50AC-1644-061B-5958C2C6D628}"/>
              </a:ext>
            </a:extLst>
          </p:cNvPr>
          <p:cNvPicPr>
            <a:picLocks noChangeAspect="1"/>
          </p:cNvPicPr>
          <p:nvPr>
            <a:videoFile r:link="rId1"/>
            <p:extLst>
              <p:ext uri="{DAA4B4D4-6D71-4841-9C94-3DE7FCFB9230}">
                <p14:media xmlns:p14="http://schemas.microsoft.com/office/powerpoint/2010/main" xmlns="" r:embed="rId10"/>
              </p:ext>
            </p:extLst>
          </p:nvPr>
        </p:nvPicPr>
        <p:blipFill>
          <a:blip r:embed="rId11" cstate="print"/>
          <a:stretch>
            <a:fillRect/>
          </a:stretch>
        </p:blipFill>
        <p:spPr>
          <a:xfrm>
            <a:off x="2286000" y="1676400"/>
            <a:ext cx="7620000" cy="3505200"/>
          </a:xfrm>
          <a:prstGeom prst="rect">
            <a:avLst/>
          </a:prstGeom>
        </p:spPr>
      </p:pic>
    </p:spTree>
    <p:extLst>
      <p:ext uri="{BB962C8B-B14F-4D97-AF65-F5344CB8AC3E}">
        <p14:creationId xmlns:p14="http://schemas.microsoft.com/office/powerpoint/2010/main" xmlns="" val="297047893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74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38BDC67-7658-3025-6003-B03DBC094B9C}"/>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xmlns="" id="{DF7AFFD5-0CFB-FE60-9C8E-8E5CB7374E45}"/>
              </a:ext>
            </a:extLst>
          </p:cNvPr>
          <p:cNvGrpSpPr/>
          <p:nvPr/>
        </p:nvGrpSpPr>
        <p:grpSpPr>
          <a:xfrm>
            <a:off x="120406" y="5635385"/>
            <a:ext cx="11951185" cy="1222615"/>
            <a:chOff x="120406" y="5635385"/>
            <a:chExt cx="11951185" cy="1222615"/>
          </a:xfrm>
        </p:grpSpPr>
        <p:grpSp>
          <p:nvGrpSpPr>
            <p:cNvPr id="8" name="Group 7">
              <a:extLst>
                <a:ext uri="{FF2B5EF4-FFF2-40B4-BE49-F238E27FC236}">
                  <a16:creationId xmlns:a16="http://schemas.microsoft.com/office/drawing/2014/main" xmlns="" id="{AF015C8E-D289-82FD-C047-13A7BF525132}"/>
                </a:ext>
              </a:extLst>
            </p:cNvPr>
            <p:cNvGrpSpPr/>
            <p:nvPr/>
          </p:nvGrpSpPr>
          <p:grpSpPr>
            <a:xfrm>
              <a:off x="267057" y="5635385"/>
              <a:ext cx="10303749" cy="1222615"/>
              <a:chOff x="50842" y="5529493"/>
              <a:chExt cx="11659590" cy="1249792"/>
            </a:xfrm>
          </p:grpSpPr>
          <p:pic>
            <p:nvPicPr>
              <p:cNvPr id="4" name="Picture 3" descr="A black background with red text&#10;&#10;Description automatically generated">
                <a:extLst>
                  <a:ext uri="{FF2B5EF4-FFF2-40B4-BE49-F238E27FC236}">
                    <a16:creationId xmlns:a16="http://schemas.microsoft.com/office/drawing/2014/main" xmlns="" id="{ED05B887-8657-B08D-54A0-6290FE577AAA}"/>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b="68890"/>
              <a:stretch/>
            </p:blipFill>
            <p:spPr>
              <a:xfrm>
                <a:off x="50842" y="5610789"/>
                <a:ext cx="3592289" cy="1072139"/>
              </a:xfrm>
              <a:prstGeom prst="rect">
                <a:avLst/>
              </a:prstGeom>
            </p:spPr>
          </p:pic>
          <p:pic>
            <p:nvPicPr>
              <p:cNvPr id="9" name="Picture 8" descr="A blue and green logo&#10;&#10;Description automatically generated">
                <a:extLst>
                  <a:ext uri="{FF2B5EF4-FFF2-40B4-BE49-F238E27FC236}">
                    <a16:creationId xmlns:a16="http://schemas.microsoft.com/office/drawing/2014/main" xmlns="" id="{6ACF145E-8263-9C1B-AF4E-AF37D979408C}"/>
                  </a:ext>
                </a:extLst>
              </p:cNvPr>
              <p:cNvPicPr>
                <a:picLocks noChangeAspect="1"/>
              </p:cNvPicPr>
              <p:nvPr/>
            </p:nvPicPr>
            <p:blipFill>
              <a:blip r:embed="rId3" cstate="print">
                <a:extLst>
                  <a:ext uri="{BEBA8EAE-BF5A-486C-A8C5-ECC9F3942E4B}">
                    <a14:imgProps xmlns:a14="http://schemas.microsoft.com/office/drawing/2010/main" xmlns="">
                      <a14:imgLayer r:embed="rId4">
                        <a14:imgEffect>
                          <a14:colorTemperature colorTemp="8800"/>
                        </a14:imgEffect>
                      </a14:imgLayer>
                    </a14:imgProps>
                  </a:ext>
                  <a:ext uri="{28A0092B-C50C-407E-A947-70E740481C1C}">
                    <a14:useLocalDpi xmlns:a14="http://schemas.microsoft.com/office/drawing/2010/main" xmlns="" val="0"/>
                  </a:ext>
                </a:extLst>
              </a:blip>
              <a:stretch>
                <a:fillRect/>
              </a:stretch>
            </p:blipFill>
            <p:spPr>
              <a:xfrm>
                <a:off x="10463614" y="5529493"/>
                <a:ext cx="1246818" cy="1192628"/>
              </a:xfrm>
              <a:prstGeom prst="rect">
                <a:avLst/>
              </a:prstGeom>
            </p:spPr>
          </p:pic>
          <p:pic>
            <p:nvPicPr>
              <p:cNvPr id="14" name="Picture 13" descr="A logo with blue and orange flames&#10;&#10;Description automatically generated">
                <a:extLst>
                  <a:ext uri="{FF2B5EF4-FFF2-40B4-BE49-F238E27FC236}">
                    <a16:creationId xmlns:a16="http://schemas.microsoft.com/office/drawing/2014/main" xmlns="" id="{87E30F1D-9204-9334-2A76-FD5B57FD47BB}"/>
                  </a:ext>
                </a:extLst>
              </p:cNvPr>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8731316" y="5681282"/>
                <a:ext cx="845714" cy="1005840"/>
              </a:xfrm>
              <a:prstGeom prst="rect">
                <a:avLst/>
              </a:prstGeom>
            </p:spPr>
          </p:pic>
          <p:pic>
            <p:nvPicPr>
              <p:cNvPr id="15" name="Picture 14" descr="A red text on a white background&#10;&#10;Description automatically generated">
                <a:extLst>
                  <a:ext uri="{FF2B5EF4-FFF2-40B4-BE49-F238E27FC236}">
                    <a16:creationId xmlns:a16="http://schemas.microsoft.com/office/drawing/2014/main" xmlns="" id="{425719C1-393A-28BA-79AE-8FA6B1CE5FB1}"/>
                  </a:ext>
                </a:extLst>
              </p:cNvPr>
              <p:cNvPicPr>
                <a:picLocks noChangeAspect="1"/>
              </p:cNvPicPr>
              <p:nvPr/>
            </p:nvPicPr>
            <p:blipFill>
              <a:blip r:embed="rId6" cstate="print">
                <a:extLst>
                  <a:ext uri="{BEBA8EAE-BF5A-486C-A8C5-ECC9F3942E4B}">
                    <a14:imgProps xmlns:a14="http://schemas.microsoft.com/office/drawing/2010/main" xmlns="">
                      <a14:imgLayer r:embed="rId7">
                        <a14:imgEffect>
                          <a14:backgroundRemoval t="9921" b="89683" l="4778" r="95444">
                            <a14:foregroundMark x1="14000" y1="42063" x2="14000" y2="42063"/>
                            <a14:foregroundMark x1="14000" y1="42063" x2="13222" y2="42063"/>
                            <a14:foregroundMark x1="6222" y1="42063" x2="6222" y2="42063"/>
                            <a14:foregroundMark x1="6222" y1="42063" x2="6222" y2="42063"/>
                            <a14:foregroundMark x1="4778" y1="54762" x2="4778" y2="54762"/>
                            <a14:foregroundMark x1="4778" y1="54762" x2="4778" y2="54762"/>
                            <a14:foregroundMark x1="28667" y1="26587" x2="28667" y2="26587"/>
                            <a14:foregroundMark x1="28667" y1="26587" x2="28667" y2="26587"/>
                            <a14:foregroundMark x1="32778" y1="27381" x2="32778" y2="27381"/>
                            <a14:foregroundMark x1="38889" y1="30952" x2="38889" y2="30952"/>
                            <a14:foregroundMark x1="43556" y1="25397" x2="43556" y2="25397"/>
                            <a14:foregroundMark x1="41444" y1="25397" x2="41444" y2="25397"/>
                            <a14:foregroundMark x1="30444" y1="58730" x2="30444" y2="58730"/>
                            <a14:foregroundMark x1="35889" y1="54762" x2="35889" y2="54762"/>
                            <a14:foregroundMark x1="41000" y1="54762" x2="41000" y2="54762"/>
                            <a14:foregroundMark x1="45333" y1="59524" x2="45333" y2="59524"/>
                            <a14:foregroundMark x1="48667" y1="56746" x2="48667" y2="56746"/>
                            <a14:foregroundMark x1="60222" y1="54762" x2="60222" y2="54762"/>
                            <a14:foregroundMark x1="66444" y1="56746" x2="66444" y2="56746"/>
                            <a14:foregroundMark x1="73111" y1="58730" x2="73111" y2="58730"/>
                            <a14:foregroundMark x1="75667" y1="49603" x2="75667" y2="49603"/>
                            <a14:foregroundMark x1="79556" y1="44841" x2="79556" y2="44841"/>
                            <a14:foregroundMark x1="89333" y1="64286" x2="89333" y2="64286"/>
                            <a14:foregroundMark x1="91889" y1="64286" x2="91889" y2="64286"/>
                            <a14:foregroundMark x1="95444" y1="58730" x2="95444" y2="58730"/>
                            <a14:backgroundMark x1="55333" y1="21825" x2="68000" y2="10714"/>
                            <a14:backgroundMark x1="64889" y1="19048" x2="62111" y2="27381"/>
                          </a14:backgroundRemoval>
                        </a14:imgEffect>
                      </a14:imgLayer>
                    </a14:imgProps>
                  </a:ext>
                  <a:ext uri="{28A0092B-C50C-407E-A947-70E740481C1C}">
                    <a14:useLocalDpi xmlns:a14="http://schemas.microsoft.com/office/drawing/2010/main" xmlns="" val="0"/>
                  </a:ext>
                </a:extLst>
              </a:blip>
              <a:stretch>
                <a:fillRect/>
              </a:stretch>
            </p:blipFill>
            <p:spPr>
              <a:xfrm>
                <a:off x="4321701" y="5716280"/>
                <a:ext cx="3796444" cy="1063005"/>
              </a:xfrm>
              <a:prstGeom prst="rect">
                <a:avLst/>
              </a:prstGeom>
            </p:spPr>
          </p:pic>
        </p:grpSp>
        <p:sp>
          <p:nvSpPr>
            <p:cNvPr id="7" name="TextBox 6">
              <a:extLst>
                <a:ext uri="{FF2B5EF4-FFF2-40B4-BE49-F238E27FC236}">
                  <a16:creationId xmlns:a16="http://schemas.microsoft.com/office/drawing/2014/main" xmlns="" id="{45D6D404-2E58-5FF3-401F-8804C24B9F73}"/>
                </a:ext>
              </a:extLst>
            </p:cNvPr>
            <p:cNvSpPr txBox="1"/>
            <p:nvPr/>
          </p:nvSpPr>
          <p:spPr>
            <a:xfrm>
              <a:off x="11354293" y="5885382"/>
              <a:ext cx="444352" cy="707886"/>
            </a:xfrm>
            <a:prstGeom prst="rect">
              <a:avLst/>
            </a:prstGeom>
            <a:noFill/>
          </p:spPr>
          <p:txBody>
            <a:bodyPr wrap="none" rtlCol="0">
              <a:spAutoFit/>
            </a:bodyPr>
            <a:lstStyle/>
            <a:p>
              <a:r>
                <a:rPr lang="en-US" sz="4000" b="1" dirty="0" smtClean="0">
                  <a:solidFill>
                    <a:srgbClr val="821634"/>
                  </a:solidFill>
                </a:rPr>
                <a:t>8</a:t>
              </a:r>
              <a:endParaRPr lang="en-US" sz="4000" b="1" dirty="0">
                <a:solidFill>
                  <a:srgbClr val="821634"/>
                </a:solidFill>
              </a:endParaRPr>
            </a:p>
          </p:txBody>
        </p:sp>
        <p:sp>
          <p:nvSpPr>
            <p:cNvPr id="12" name="Rectangle 11">
              <a:extLst>
                <a:ext uri="{FF2B5EF4-FFF2-40B4-BE49-F238E27FC236}">
                  <a16:creationId xmlns:a16="http://schemas.microsoft.com/office/drawing/2014/main" xmlns="" id="{1BAAFB73-6276-1B9A-10C9-09AC8D56233A}"/>
                </a:ext>
              </a:extLst>
            </p:cNvPr>
            <p:cNvSpPr/>
            <p:nvPr/>
          </p:nvSpPr>
          <p:spPr>
            <a:xfrm>
              <a:off x="120406" y="5819629"/>
              <a:ext cx="11951185" cy="910145"/>
            </a:xfrm>
            <a:prstGeom prst="rect">
              <a:avLst/>
            </a:prstGeom>
            <a:noFill/>
            <a:ln w="38100" cap="flat" cmpd="sng" algn="ctr">
              <a:solidFill>
                <a:srgbClr val="00237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sp>
        <p:nvSpPr>
          <p:cNvPr id="2" name="Rectangle 1">
            <a:extLst>
              <a:ext uri="{FF2B5EF4-FFF2-40B4-BE49-F238E27FC236}">
                <a16:creationId xmlns:a16="http://schemas.microsoft.com/office/drawing/2014/main" xmlns="" id="{9864E3FD-B6A9-2FFF-BFA2-C07891E6F868}"/>
              </a:ext>
            </a:extLst>
          </p:cNvPr>
          <p:cNvSpPr/>
          <p:nvPr/>
        </p:nvSpPr>
        <p:spPr>
          <a:xfrm>
            <a:off x="5977217" y="3244334"/>
            <a:ext cx="237566" cy="369332"/>
          </a:xfrm>
          <a:prstGeom prst="rect">
            <a:avLst/>
          </a:prstGeom>
        </p:spPr>
        <p:txBody>
          <a:bodyPr wrap="none">
            <a:spAutoFit/>
          </a:bodyPr>
          <a:lstStyle/>
          <a:p>
            <a:r>
              <a:rPr lang="fr-FR" dirty="0"/>
              <a:t> </a:t>
            </a:r>
          </a:p>
        </p:txBody>
      </p:sp>
      <p:sp>
        <p:nvSpPr>
          <p:cNvPr id="3" name="Rectangle 2">
            <a:extLst>
              <a:ext uri="{FF2B5EF4-FFF2-40B4-BE49-F238E27FC236}">
                <a16:creationId xmlns:a16="http://schemas.microsoft.com/office/drawing/2014/main" xmlns="" id="{A4B69F94-6420-1969-9D52-D3880FC456B1}"/>
              </a:ext>
            </a:extLst>
          </p:cNvPr>
          <p:cNvSpPr/>
          <p:nvPr/>
        </p:nvSpPr>
        <p:spPr>
          <a:xfrm>
            <a:off x="5977217" y="3244334"/>
            <a:ext cx="237566" cy="369332"/>
          </a:xfrm>
          <a:prstGeom prst="rect">
            <a:avLst/>
          </a:prstGeom>
        </p:spPr>
        <p:txBody>
          <a:bodyPr wrap="none">
            <a:spAutoFit/>
          </a:bodyPr>
          <a:lstStyle/>
          <a:p>
            <a:r>
              <a:rPr lang="fr-FR" dirty="0"/>
              <a:t> </a:t>
            </a:r>
          </a:p>
        </p:txBody>
      </p:sp>
      <p:sp>
        <p:nvSpPr>
          <p:cNvPr id="6" name="Rectangle 5">
            <a:extLst>
              <a:ext uri="{FF2B5EF4-FFF2-40B4-BE49-F238E27FC236}">
                <a16:creationId xmlns:a16="http://schemas.microsoft.com/office/drawing/2014/main" xmlns="" id="{8BF07A4D-E06B-9922-AC7C-7AC8E16AB360}"/>
              </a:ext>
            </a:extLst>
          </p:cNvPr>
          <p:cNvSpPr/>
          <p:nvPr/>
        </p:nvSpPr>
        <p:spPr>
          <a:xfrm>
            <a:off x="5977217" y="3244334"/>
            <a:ext cx="237566" cy="369332"/>
          </a:xfrm>
          <a:prstGeom prst="rect">
            <a:avLst/>
          </a:prstGeom>
        </p:spPr>
        <p:txBody>
          <a:bodyPr wrap="none">
            <a:spAutoFit/>
          </a:bodyPr>
          <a:lstStyle/>
          <a:p>
            <a:r>
              <a:rPr lang="fr-FR" dirty="0"/>
              <a:t> </a:t>
            </a:r>
          </a:p>
        </p:txBody>
      </p:sp>
      <p:sp>
        <p:nvSpPr>
          <p:cNvPr id="10" name="Rectangle 9">
            <a:extLst>
              <a:ext uri="{FF2B5EF4-FFF2-40B4-BE49-F238E27FC236}">
                <a16:creationId xmlns:a16="http://schemas.microsoft.com/office/drawing/2014/main" xmlns="" id="{EDEEA92C-9046-1B0A-1AD6-0B40CFED2903}"/>
              </a:ext>
            </a:extLst>
          </p:cNvPr>
          <p:cNvSpPr/>
          <p:nvPr/>
        </p:nvSpPr>
        <p:spPr>
          <a:xfrm>
            <a:off x="5977217" y="3244334"/>
            <a:ext cx="237566" cy="369332"/>
          </a:xfrm>
          <a:prstGeom prst="rect">
            <a:avLst/>
          </a:prstGeom>
        </p:spPr>
        <p:txBody>
          <a:bodyPr wrap="none">
            <a:spAutoFit/>
          </a:bodyPr>
          <a:lstStyle/>
          <a:p>
            <a:r>
              <a:rPr lang="fr-FR" dirty="0"/>
              <a:t> </a:t>
            </a:r>
          </a:p>
        </p:txBody>
      </p:sp>
      <p:sp>
        <p:nvSpPr>
          <p:cNvPr id="13" name="Rectangle 12">
            <a:extLst>
              <a:ext uri="{FF2B5EF4-FFF2-40B4-BE49-F238E27FC236}">
                <a16:creationId xmlns:a16="http://schemas.microsoft.com/office/drawing/2014/main" xmlns="" id="{72AA319C-CA5C-8696-3B2B-95C1C66F6176}"/>
              </a:ext>
            </a:extLst>
          </p:cNvPr>
          <p:cNvSpPr/>
          <p:nvPr/>
        </p:nvSpPr>
        <p:spPr>
          <a:xfrm>
            <a:off x="5977217" y="3244334"/>
            <a:ext cx="237566" cy="369332"/>
          </a:xfrm>
          <a:prstGeom prst="rect">
            <a:avLst/>
          </a:prstGeom>
        </p:spPr>
        <p:txBody>
          <a:bodyPr wrap="none">
            <a:spAutoFit/>
          </a:bodyPr>
          <a:lstStyle/>
          <a:p>
            <a:r>
              <a:rPr lang="fr-FR" dirty="0"/>
              <a:t> </a:t>
            </a:r>
          </a:p>
        </p:txBody>
      </p:sp>
      <p:sp>
        <p:nvSpPr>
          <p:cNvPr id="19" name="ZoneTexte 18">
            <a:extLst>
              <a:ext uri="{FF2B5EF4-FFF2-40B4-BE49-F238E27FC236}">
                <a16:creationId xmlns:a16="http://schemas.microsoft.com/office/drawing/2014/main" xmlns="" id="{37F02366-E4CF-1333-6DBF-2E4FB9B00EFD}"/>
              </a:ext>
            </a:extLst>
          </p:cNvPr>
          <p:cNvSpPr txBox="1"/>
          <p:nvPr/>
        </p:nvSpPr>
        <p:spPr>
          <a:xfrm>
            <a:off x="410547" y="363894"/>
            <a:ext cx="11388098" cy="923330"/>
          </a:xfrm>
          <a:prstGeom prst="rect">
            <a:avLst/>
          </a:prstGeom>
          <a:noFill/>
        </p:spPr>
        <p:txBody>
          <a:bodyPr wrap="square" rtlCol="0">
            <a:spAutoFit/>
          </a:bodyPr>
          <a:lstStyle/>
          <a:p>
            <a:r>
              <a:rPr lang="fr-FR" b="1" dirty="0"/>
              <a:t>Communication Sans Fil (protocole LORA): </a:t>
            </a:r>
            <a:r>
              <a:rPr lang="fr-FR" dirty="0"/>
              <a:t>Assurer une transmission stable et longue portée entre le module LoRa </a:t>
            </a:r>
            <a:r>
              <a:rPr lang="fr-FR" dirty="0" err="1"/>
              <a:t>sender</a:t>
            </a:r>
            <a:r>
              <a:rPr lang="fr-FR" dirty="0"/>
              <a:t> qui sera embarqué sur le véhicule et le module LoRa </a:t>
            </a:r>
            <a:r>
              <a:rPr lang="fr-FR" dirty="0" err="1"/>
              <a:t>receiver</a:t>
            </a:r>
            <a:r>
              <a:rPr lang="fr-FR" dirty="0"/>
              <a:t> de la station de contrôle en utilisant le protocole LoRa.</a:t>
            </a:r>
          </a:p>
        </p:txBody>
      </p:sp>
      <p:pic>
        <p:nvPicPr>
          <p:cNvPr id="22" name="Image 21" descr="Une image contenant texte, capture d’écran, conception&#10;&#10;Description générée automatiquement">
            <a:extLst>
              <a:ext uri="{FF2B5EF4-FFF2-40B4-BE49-F238E27FC236}">
                <a16:creationId xmlns:a16="http://schemas.microsoft.com/office/drawing/2014/main" xmlns="" id="{70C04874-E780-9B61-743F-E3E6A1D4636C}"/>
              </a:ext>
            </a:extLst>
          </p:cNvPr>
          <p:cNvPicPr>
            <a:picLocks noChangeAspect="1"/>
          </p:cNvPicPr>
          <p:nvPr/>
        </p:nvPicPr>
        <p:blipFill>
          <a:blip r:embed="rId8" cstate="print">
            <a:extLst>
              <a:ext uri="{28A0092B-C50C-407E-A947-70E740481C1C}">
                <a14:useLocalDpi xmlns:a14="http://schemas.microsoft.com/office/drawing/2010/main" xmlns="" val="0"/>
              </a:ext>
            </a:extLst>
          </a:blip>
          <a:stretch>
            <a:fillRect/>
          </a:stretch>
        </p:blipFill>
        <p:spPr>
          <a:xfrm>
            <a:off x="881714" y="1352977"/>
            <a:ext cx="10666138" cy="3778860"/>
          </a:xfrm>
          <a:prstGeom prst="rect">
            <a:avLst/>
          </a:prstGeom>
        </p:spPr>
      </p:pic>
    </p:spTree>
    <p:extLst>
      <p:ext uri="{BB962C8B-B14F-4D97-AF65-F5344CB8AC3E}">
        <p14:creationId xmlns:p14="http://schemas.microsoft.com/office/powerpoint/2010/main" xmlns="" val="2640779495"/>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E95BBB3-214A-191F-0CEE-202F930BD6B1}"/>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xmlns="" id="{CE52B339-7F45-D3B4-5692-5F9CAA186489}"/>
              </a:ext>
            </a:extLst>
          </p:cNvPr>
          <p:cNvGrpSpPr/>
          <p:nvPr/>
        </p:nvGrpSpPr>
        <p:grpSpPr>
          <a:xfrm>
            <a:off x="120406" y="5635385"/>
            <a:ext cx="11951185" cy="1222615"/>
            <a:chOff x="120406" y="5635385"/>
            <a:chExt cx="11951185" cy="1222615"/>
          </a:xfrm>
        </p:grpSpPr>
        <p:grpSp>
          <p:nvGrpSpPr>
            <p:cNvPr id="8" name="Group 7">
              <a:extLst>
                <a:ext uri="{FF2B5EF4-FFF2-40B4-BE49-F238E27FC236}">
                  <a16:creationId xmlns:a16="http://schemas.microsoft.com/office/drawing/2014/main" xmlns="" id="{82D1A0B7-7646-50B3-74FD-F4D0B9363761}"/>
                </a:ext>
              </a:extLst>
            </p:cNvPr>
            <p:cNvGrpSpPr/>
            <p:nvPr/>
          </p:nvGrpSpPr>
          <p:grpSpPr>
            <a:xfrm>
              <a:off x="267057" y="5635385"/>
              <a:ext cx="10303749" cy="1222615"/>
              <a:chOff x="50842" y="5529493"/>
              <a:chExt cx="11659590" cy="1249792"/>
            </a:xfrm>
          </p:grpSpPr>
          <p:pic>
            <p:nvPicPr>
              <p:cNvPr id="4" name="Picture 3" descr="A black background with red text&#10;&#10;Description automatically generated">
                <a:extLst>
                  <a:ext uri="{FF2B5EF4-FFF2-40B4-BE49-F238E27FC236}">
                    <a16:creationId xmlns:a16="http://schemas.microsoft.com/office/drawing/2014/main" xmlns="" id="{704DFF4B-8ED7-906E-655C-C8B50D9F80EB}"/>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b="68890"/>
              <a:stretch/>
            </p:blipFill>
            <p:spPr>
              <a:xfrm>
                <a:off x="50842" y="5610789"/>
                <a:ext cx="3592289" cy="1072139"/>
              </a:xfrm>
              <a:prstGeom prst="rect">
                <a:avLst/>
              </a:prstGeom>
            </p:spPr>
          </p:pic>
          <p:pic>
            <p:nvPicPr>
              <p:cNvPr id="9" name="Picture 8" descr="A blue and green logo&#10;&#10;Description automatically generated">
                <a:extLst>
                  <a:ext uri="{FF2B5EF4-FFF2-40B4-BE49-F238E27FC236}">
                    <a16:creationId xmlns:a16="http://schemas.microsoft.com/office/drawing/2014/main" xmlns="" id="{EB7FF86B-FEF7-EDA0-68B3-6705295EB70D}"/>
                  </a:ext>
                </a:extLst>
              </p:cNvPr>
              <p:cNvPicPr>
                <a:picLocks noChangeAspect="1"/>
              </p:cNvPicPr>
              <p:nvPr/>
            </p:nvPicPr>
            <p:blipFill>
              <a:blip r:embed="rId3" cstate="print">
                <a:extLst>
                  <a:ext uri="{BEBA8EAE-BF5A-486C-A8C5-ECC9F3942E4B}">
                    <a14:imgProps xmlns:a14="http://schemas.microsoft.com/office/drawing/2010/main" xmlns="">
                      <a14:imgLayer r:embed="rId4">
                        <a14:imgEffect>
                          <a14:colorTemperature colorTemp="8800"/>
                        </a14:imgEffect>
                      </a14:imgLayer>
                    </a14:imgProps>
                  </a:ext>
                  <a:ext uri="{28A0092B-C50C-407E-A947-70E740481C1C}">
                    <a14:useLocalDpi xmlns:a14="http://schemas.microsoft.com/office/drawing/2010/main" xmlns="" val="0"/>
                  </a:ext>
                </a:extLst>
              </a:blip>
              <a:stretch>
                <a:fillRect/>
              </a:stretch>
            </p:blipFill>
            <p:spPr>
              <a:xfrm>
                <a:off x="10463614" y="5529493"/>
                <a:ext cx="1246818" cy="1192628"/>
              </a:xfrm>
              <a:prstGeom prst="rect">
                <a:avLst/>
              </a:prstGeom>
            </p:spPr>
          </p:pic>
          <p:pic>
            <p:nvPicPr>
              <p:cNvPr id="14" name="Picture 13" descr="A logo with blue and orange flames&#10;&#10;Description automatically generated">
                <a:extLst>
                  <a:ext uri="{FF2B5EF4-FFF2-40B4-BE49-F238E27FC236}">
                    <a16:creationId xmlns:a16="http://schemas.microsoft.com/office/drawing/2014/main" xmlns="" id="{BC842500-7386-71DD-7AB6-C5327DED0707}"/>
                  </a:ext>
                </a:extLst>
              </p:cNvPr>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8731316" y="5681282"/>
                <a:ext cx="845714" cy="1005840"/>
              </a:xfrm>
              <a:prstGeom prst="rect">
                <a:avLst/>
              </a:prstGeom>
            </p:spPr>
          </p:pic>
          <p:pic>
            <p:nvPicPr>
              <p:cNvPr id="15" name="Picture 14" descr="A red text on a white background&#10;&#10;Description automatically generated">
                <a:extLst>
                  <a:ext uri="{FF2B5EF4-FFF2-40B4-BE49-F238E27FC236}">
                    <a16:creationId xmlns:a16="http://schemas.microsoft.com/office/drawing/2014/main" xmlns="" id="{3AF5FDE4-3616-0201-CA1E-6E942118122D}"/>
                  </a:ext>
                </a:extLst>
              </p:cNvPr>
              <p:cNvPicPr>
                <a:picLocks noChangeAspect="1"/>
              </p:cNvPicPr>
              <p:nvPr/>
            </p:nvPicPr>
            <p:blipFill>
              <a:blip r:embed="rId6" cstate="print">
                <a:extLst>
                  <a:ext uri="{BEBA8EAE-BF5A-486C-A8C5-ECC9F3942E4B}">
                    <a14:imgProps xmlns:a14="http://schemas.microsoft.com/office/drawing/2010/main" xmlns="">
                      <a14:imgLayer r:embed="rId7">
                        <a14:imgEffect>
                          <a14:backgroundRemoval t="9921" b="89683" l="4778" r="95444">
                            <a14:foregroundMark x1="14000" y1="42063" x2="14000" y2="42063"/>
                            <a14:foregroundMark x1="14000" y1="42063" x2="13222" y2="42063"/>
                            <a14:foregroundMark x1="6222" y1="42063" x2="6222" y2="42063"/>
                            <a14:foregroundMark x1="6222" y1="42063" x2="6222" y2="42063"/>
                            <a14:foregroundMark x1="4778" y1="54762" x2="4778" y2="54762"/>
                            <a14:foregroundMark x1="4778" y1="54762" x2="4778" y2="54762"/>
                            <a14:foregroundMark x1="28667" y1="26587" x2="28667" y2="26587"/>
                            <a14:foregroundMark x1="28667" y1="26587" x2="28667" y2="26587"/>
                            <a14:foregroundMark x1="32778" y1="27381" x2="32778" y2="27381"/>
                            <a14:foregroundMark x1="38889" y1="30952" x2="38889" y2="30952"/>
                            <a14:foregroundMark x1="43556" y1="25397" x2="43556" y2="25397"/>
                            <a14:foregroundMark x1="41444" y1="25397" x2="41444" y2="25397"/>
                            <a14:foregroundMark x1="30444" y1="58730" x2="30444" y2="58730"/>
                            <a14:foregroundMark x1="35889" y1="54762" x2="35889" y2="54762"/>
                            <a14:foregroundMark x1="41000" y1="54762" x2="41000" y2="54762"/>
                            <a14:foregroundMark x1="45333" y1="59524" x2="45333" y2="59524"/>
                            <a14:foregroundMark x1="48667" y1="56746" x2="48667" y2="56746"/>
                            <a14:foregroundMark x1="60222" y1="54762" x2="60222" y2="54762"/>
                            <a14:foregroundMark x1="66444" y1="56746" x2="66444" y2="56746"/>
                            <a14:foregroundMark x1="73111" y1="58730" x2="73111" y2="58730"/>
                            <a14:foregroundMark x1="75667" y1="49603" x2="75667" y2="49603"/>
                            <a14:foregroundMark x1="79556" y1="44841" x2="79556" y2="44841"/>
                            <a14:foregroundMark x1="89333" y1="64286" x2="89333" y2="64286"/>
                            <a14:foregroundMark x1="91889" y1="64286" x2="91889" y2="64286"/>
                            <a14:foregroundMark x1="95444" y1="58730" x2="95444" y2="58730"/>
                            <a14:backgroundMark x1="55333" y1="21825" x2="68000" y2="10714"/>
                            <a14:backgroundMark x1="64889" y1="19048" x2="62111" y2="27381"/>
                          </a14:backgroundRemoval>
                        </a14:imgEffect>
                      </a14:imgLayer>
                    </a14:imgProps>
                  </a:ext>
                  <a:ext uri="{28A0092B-C50C-407E-A947-70E740481C1C}">
                    <a14:useLocalDpi xmlns:a14="http://schemas.microsoft.com/office/drawing/2010/main" xmlns="" val="0"/>
                  </a:ext>
                </a:extLst>
              </a:blip>
              <a:stretch>
                <a:fillRect/>
              </a:stretch>
            </p:blipFill>
            <p:spPr>
              <a:xfrm>
                <a:off x="4321701" y="5716280"/>
                <a:ext cx="3796444" cy="1063005"/>
              </a:xfrm>
              <a:prstGeom prst="rect">
                <a:avLst/>
              </a:prstGeom>
            </p:spPr>
          </p:pic>
        </p:grpSp>
        <p:sp>
          <p:nvSpPr>
            <p:cNvPr id="7" name="TextBox 6">
              <a:extLst>
                <a:ext uri="{FF2B5EF4-FFF2-40B4-BE49-F238E27FC236}">
                  <a16:creationId xmlns:a16="http://schemas.microsoft.com/office/drawing/2014/main" xmlns="" id="{D2D46DB0-5437-CBE1-CC88-E74863CCBB1D}"/>
                </a:ext>
              </a:extLst>
            </p:cNvPr>
            <p:cNvSpPr txBox="1"/>
            <p:nvPr/>
          </p:nvSpPr>
          <p:spPr>
            <a:xfrm>
              <a:off x="11354293" y="5885382"/>
              <a:ext cx="444352" cy="707886"/>
            </a:xfrm>
            <a:prstGeom prst="rect">
              <a:avLst/>
            </a:prstGeom>
            <a:noFill/>
          </p:spPr>
          <p:txBody>
            <a:bodyPr wrap="none" rtlCol="0">
              <a:spAutoFit/>
            </a:bodyPr>
            <a:lstStyle/>
            <a:p>
              <a:r>
                <a:rPr lang="en-US" sz="4000" b="1" dirty="0" smtClean="0">
                  <a:solidFill>
                    <a:srgbClr val="821634"/>
                  </a:solidFill>
                </a:rPr>
                <a:t>9</a:t>
              </a:r>
              <a:endParaRPr lang="en-US" sz="4000" b="1" dirty="0">
                <a:solidFill>
                  <a:srgbClr val="821634"/>
                </a:solidFill>
              </a:endParaRPr>
            </a:p>
          </p:txBody>
        </p:sp>
        <p:sp>
          <p:nvSpPr>
            <p:cNvPr id="12" name="Rectangle 11">
              <a:extLst>
                <a:ext uri="{FF2B5EF4-FFF2-40B4-BE49-F238E27FC236}">
                  <a16:creationId xmlns:a16="http://schemas.microsoft.com/office/drawing/2014/main" xmlns="" id="{1F72A721-9330-379E-531E-02C1878268BF}"/>
                </a:ext>
              </a:extLst>
            </p:cNvPr>
            <p:cNvSpPr/>
            <p:nvPr/>
          </p:nvSpPr>
          <p:spPr>
            <a:xfrm>
              <a:off x="120406" y="5819629"/>
              <a:ext cx="11951185" cy="910145"/>
            </a:xfrm>
            <a:prstGeom prst="rect">
              <a:avLst/>
            </a:prstGeom>
            <a:noFill/>
            <a:ln w="38100" cap="flat" cmpd="sng" algn="ctr">
              <a:solidFill>
                <a:srgbClr val="00237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sp>
        <p:nvSpPr>
          <p:cNvPr id="2" name="Rectangle 1">
            <a:extLst>
              <a:ext uri="{FF2B5EF4-FFF2-40B4-BE49-F238E27FC236}">
                <a16:creationId xmlns:a16="http://schemas.microsoft.com/office/drawing/2014/main" xmlns="" id="{AE74D931-6AC7-0706-7916-FF386E6D481D}"/>
              </a:ext>
            </a:extLst>
          </p:cNvPr>
          <p:cNvSpPr/>
          <p:nvPr/>
        </p:nvSpPr>
        <p:spPr>
          <a:xfrm>
            <a:off x="5977217" y="3244334"/>
            <a:ext cx="237566" cy="369332"/>
          </a:xfrm>
          <a:prstGeom prst="rect">
            <a:avLst/>
          </a:prstGeom>
        </p:spPr>
        <p:txBody>
          <a:bodyPr wrap="none">
            <a:spAutoFit/>
          </a:bodyPr>
          <a:lstStyle/>
          <a:p>
            <a:r>
              <a:rPr lang="fr-FR" dirty="0"/>
              <a:t> </a:t>
            </a:r>
          </a:p>
        </p:txBody>
      </p:sp>
      <p:sp>
        <p:nvSpPr>
          <p:cNvPr id="3" name="Rectangle 2">
            <a:extLst>
              <a:ext uri="{FF2B5EF4-FFF2-40B4-BE49-F238E27FC236}">
                <a16:creationId xmlns:a16="http://schemas.microsoft.com/office/drawing/2014/main" xmlns="" id="{211D19E8-5A55-4B2E-1EEA-E7FDE2C49E5A}"/>
              </a:ext>
            </a:extLst>
          </p:cNvPr>
          <p:cNvSpPr/>
          <p:nvPr/>
        </p:nvSpPr>
        <p:spPr>
          <a:xfrm>
            <a:off x="5977217" y="3244334"/>
            <a:ext cx="237566" cy="369332"/>
          </a:xfrm>
          <a:prstGeom prst="rect">
            <a:avLst/>
          </a:prstGeom>
        </p:spPr>
        <p:txBody>
          <a:bodyPr wrap="none">
            <a:spAutoFit/>
          </a:bodyPr>
          <a:lstStyle/>
          <a:p>
            <a:r>
              <a:rPr lang="fr-FR" dirty="0"/>
              <a:t> </a:t>
            </a:r>
          </a:p>
        </p:txBody>
      </p:sp>
      <p:sp>
        <p:nvSpPr>
          <p:cNvPr id="6" name="Rectangle 5">
            <a:extLst>
              <a:ext uri="{FF2B5EF4-FFF2-40B4-BE49-F238E27FC236}">
                <a16:creationId xmlns:a16="http://schemas.microsoft.com/office/drawing/2014/main" xmlns="" id="{B5D90E3F-EC75-5F37-EADF-D7A5E3B39417}"/>
              </a:ext>
            </a:extLst>
          </p:cNvPr>
          <p:cNvSpPr/>
          <p:nvPr/>
        </p:nvSpPr>
        <p:spPr>
          <a:xfrm>
            <a:off x="5977217" y="3244334"/>
            <a:ext cx="237566" cy="369332"/>
          </a:xfrm>
          <a:prstGeom prst="rect">
            <a:avLst/>
          </a:prstGeom>
        </p:spPr>
        <p:txBody>
          <a:bodyPr wrap="none">
            <a:spAutoFit/>
          </a:bodyPr>
          <a:lstStyle/>
          <a:p>
            <a:r>
              <a:rPr lang="fr-FR" dirty="0"/>
              <a:t> </a:t>
            </a:r>
          </a:p>
        </p:txBody>
      </p:sp>
      <p:sp>
        <p:nvSpPr>
          <p:cNvPr id="10" name="Rectangle 9">
            <a:extLst>
              <a:ext uri="{FF2B5EF4-FFF2-40B4-BE49-F238E27FC236}">
                <a16:creationId xmlns:a16="http://schemas.microsoft.com/office/drawing/2014/main" xmlns="" id="{720D82D9-953A-5FAF-A483-5DB76CBE3044}"/>
              </a:ext>
            </a:extLst>
          </p:cNvPr>
          <p:cNvSpPr/>
          <p:nvPr/>
        </p:nvSpPr>
        <p:spPr>
          <a:xfrm>
            <a:off x="5977217" y="3244334"/>
            <a:ext cx="237566" cy="369332"/>
          </a:xfrm>
          <a:prstGeom prst="rect">
            <a:avLst/>
          </a:prstGeom>
        </p:spPr>
        <p:txBody>
          <a:bodyPr wrap="none">
            <a:spAutoFit/>
          </a:bodyPr>
          <a:lstStyle/>
          <a:p>
            <a:r>
              <a:rPr lang="fr-FR" dirty="0"/>
              <a:t> </a:t>
            </a:r>
          </a:p>
        </p:txBody>
      </p:sp>
      <p:sp>
        <p:nvSpPr>
          <p:cNvPr id="13" name="Rectangle 12">
            <a:extLst>
              <a:ext uri="{FF2B5EF4-FFF2-40B4-BE49-F238E27FC236}">
                <a16:creationId xmlns:a16="http://schemas.microsoft.com/office/drawing/2014/main" xmlns="" id="{04B9112D-DBBF-885C-2779-16ED721CBEE9}"/>
              </a:ext>
            </a:extLst>
          </p:cNvPr>
          <p:cNvSpPr/>
          <p:nvPr/>
        </p:nvSpPr>
        <p:spPr>
          <a:xfrm>
            <a:off x="5977217" y="3244334"/>
            <a:ext cx="237566" cy="369332"/>
          </a:xfrm>
          <a:prstGeom prst="rect">
            <a:avLst/>
          </a:prstGeom>
        </p:spPr>
        <p:txBody>
          <a:bodyPr wrap="none">
            <a:spAutoFit/>
          </a:bodyPr>
          <a:lstStyle/>
          <a:p>
            <a:r>
              <a:rPr lang="fr-FR" dirty="0"/>
              <a:t> </a:t>
            </a:r>
          </a:p>
        </p:txBody>
      </p:sp>
      <p:sp>
        <p:nvSpPr>
          <p:cNvPr id="19" name="ZoneTexte 18">
            <a:extLst>
              <a:ext uri="{FF2B5EF4-FFF2-40B4-BE49-F238E27FC236}">
                <a16:creationId xmlns:a16="http://schemas.microsoft.com/office/drawing/2014/main" xmlns="" id="{FE452E76-4413-FF33-9947-A35BF4B31E2A}"/>
              </a:ext>
            </a:extLst>
          </p:cNvPr>
          <p:cNvSpPr txBox="1"/>
          <p:nvPr/>
        </p:nvSpPr>
        <p:spPr>
          <a:xfrm>
            <a:off x="410547" y="363894"/>
            <a:ext cx="11388098" cy="923330"/>
          </a:xfrm>
          <a:prstGeom prst="rect">
            <a:avLst/>
          </a:prstGeom>
          <a:noFill/>
        </p:spPr>
        <p:txBody>
          <a:bodyPr wrap="square" rtlCol="0">
            <a:spAutoFit/>
          </a:bodyPr>
          <a:lstStyle/>
          <a:p>
            <a:r>
              <a:rPr lang="fr-FR" b="1" dirty="0"/>
              <a:t>Transmission des Données </a:t>
            </a:r>
            <a:r>
              <a:rPr lang="fr-FR" dirty="0"/>
              <a:t>: Établir une communication fiable entre la carte STM32 et le module LoRa </a:t>
            </a:r>
            <a:r>
              <a:rPr lang="fr-FR" dirty="0" err="1"/>
              <a:t>sender</a:t>
            </a:r>
            <a:r>
              <a:rPr lang="fr-FR" dirty="0"/>
              <a:t> en utilisant l'interface UART pour garantir une transmission précise et sans perte des données des capteurs. Pour les premiers tests.</a:t>
            </a:r>
          </a:p>
        </p:txBody>
      </p:sp>
      <p:pic>
        <p:nvPicPr>
          <p:cNvPr id="1026" name="Picture 2" descr="Carte STM32 Nucleo-64 - STMicro | Mouser">
            <a:extLst>
              <a:ext uri="{FF2B5EF4-FFF2-40B4-BE49-F238E27FC236}">
                <a16:creationId xmlns:a16="http://schemas.microsoft.com/office/drawing/2014/main" xmlns="" id="{EA662585-C51E-6135-09CE-039B306B9608}"/>
              </a:ext>
            </a:extLst>
          </p:cNvPr>
          <p:cNvPicPr>
            <a:picLocks noChangeAspect="1" noChangeArrowheads="1"/>
          </p:cNvPicPr>
          <p:nvPr/>
        </p:nvPicPr>
        <p:blipFill>
          <a:blip r:embed="rId8" cstate="print">
            <a:extLst>
              <a:ext uri="{28A0092B-C50C-407E-A947-70E740481C1C}">
                <a14:useLocalDpi xmlns:a14="http://schemas.microsoft.com/office/drawing/2010/main" xmlns="" val="0"/>
              </a:ext>
            </a:extLst>
          </a:blip>
          <a:srcRect/>
          <a:stretch>
            <a:fillRect/>
          </a:stretch>
        </p:blipFill>
        <p:spPr bwMode="auto">
          <a:xfrm>
            <a:off x="675604" y="1838451"/>
            <a:ext cx="4235480" cy="3077782"/>
          </a:xfrm>
          <a:prstGeom prst="rect">
            <a:avLst/>
          </a:prstGeom>
          <a:noFill/>
          <a:extLst>
            <a:ext uri="{909E8E84-426E-40DD-AFC4-6F175D3DCCD1}">
              <a14:hiddenFill xmlns:a14="http://schemas.microsoft.com/office/drawing/2010/main" xmlns="">
                <a:solidFill>
                  <a:srgbClr val="FFFFFF"/>
                </a:solidFill>
              </a14:hiddenFill>
            </a:ext>
          </a:extLst>
        </p:spPr>
      </p:pic>
      <p:pic>
        <p:nvPicPr>
          <p:cNvPr id="1032" name="Picture 8" descr="Heltec IOT Lora Wireless Stick Upgrade esp32 lora/WiFi lora Development Board with 0.49inch OLED Display 868MHZ/915MHZ">
            <a:extLst>
              <a:ext uri="{FF2B5EF4-FFF2-40B4-BE49-F238E27FC236}">
                <a16:creationId xmlns:a16="http://schemas.microsoft.com/office/drawing/2014/main" xmlns="" id="{515A931B-1DE1-5AC5-8BF6-9E3B87642D19}"/>
              </a:ext>
            </a:extLst>
          </p:cNvPr>
          <p:cNvPicPr>
            <a:picLocks noChangeAspect="1" noChangeArrowheads="1"/>
          </p:cNvPicPr>
          <p:nvPr/>
        </p:nvPicPr>
        <p:blipFill>
          <a:blip r:embed="rId9" cstate="print">
            <a:extLst>
              <a:ext uri="{28A0092B-C50C-407E-A947-70E740481C1C}">
                <a14:useLocalDpi xmlns:a14="http://schemas.microsoft.com/office/drawing/2010/main" xmlns="" val="0"/>
              </a:ext>
            </a:extLst>
          </a:blip>
          <a:srcRect/>
          <a:stretch>
            <a:fillRect/>
          </a:stretch>
        </p:blipFill>
        <p:spPr bwMode="auto">
          <a:xfrm>
            <a:off x="7113951" y="1773159"/>
            <a:ext cx="3143074" cy="3143074"/>
          </a:xfrm>
          <a:prstGeom prst="rect">
            <a:avLst/>
          </a:prstGeom>
          <a:noFill/>
          <a:extLst>
            <a:ext uri="{909E8E84-426E-40DD-AFC4-6F175D3DCCD1}">
              <a14:hiddenFill xmlns:a14="http://schemas.microsoft.com/office/drawing/2010/main" xmlns="">
                <a:solidFill>
                  <a:srgbClr val="FFFFFF"/>
                </a:solidFill>
              </a14:hiddenFill>
            </a:ext>
          </a:extLst>
        </p:spPr>
      </p:pic>
      <p:cxnSp>
        <p:nvCxnSpPr>
          <p:cNvPr id="18" name="Straight Arrow Connector 17">
            <a:extLst>
              <a:ext uri="{FF2B5EF4-FFF2-40B4-BE49-F238E27FC236}">
                <a16:creationId xmlns:a16="http://schemas.microsoft.com/office/drawing/2014/main" xmlns="" id="{6B0654A7-CF6C-4B2F-CEB9-C5D370843944}"/>
              </a:ext>
            </a:extLst>
          </p:cNvPr>
          <p:cNvCxnSpPr>
            <a:cxnSpLocks/>
          </p:cNvCxnSpPr>
          <p:nvPr/>
        </p:nvCxnSpPr>
        <p:spPr>
          <a:xfrm>
            <a:off x="4468969" y="3429000"/>
            <a:ext cx="264498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xmlns="" id="{F43FE58F-BE6E-B43E-D578-F4DE15FD39E2}"/>
              </a:ext>
            </a:extLst>
          </p:cNvPr>
          <p:cNvSpPr txBox="1"/>
          <p:nvPr/>
        </p:nvSpPr>
        <p:spPr>
          <a:xfrm>
            <a:off x="5158431" y="2768807"/>
            <a:ext cx="1303642" cy="461665"/>
          </a:xfrm>
          <a:prstGeom prst="rect">
            <a:avLst/>
          </a:prstGeom>
          <a:noFill/>
        </p:spPr>
        <p:txBody>
          <a:bodyPr wrap="square" rtlCol="0">
            <a:spAutoFit/>
          </a:bodyPr>
          <a:lstStyle/>
          <a:p>
            <a:r>
              <a:rPr lang="fr-CA" sz="2400" dirty="0"/>
              <a:t>UART</a:t>
            </a:r>
            <a:endParaRPr lang="en-US" sz="2400" dirty="0"/>
          </a:p>
        </p:txBody>
      </p:sp>
    </p:spTree>
    <p:extLst>
      <p:ext uri="{BB962C8B-B14F-4D97-AF65-F5344CB8AC3E}">
        <p14:creationId xmlns:p14="http://schemas.microsoft.com/office/powerpoint/2010/main" xmlns="" val="1111722590"/>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266A44F-95AE-19DB-82AF-AFAB5F454DEF}"/>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xmlns="" id="{53DBF899-9D6F-7854-F03B-111B713C72FF}"/>
              </a:ext>
            </a:extLst>
          </p:cNvPr>
          <p:cNvGrpSpPr/>
          <p:nvPr/>
        </p:nvGrpSpPr>
        <p:grpSpPr>
          <a:xfrm>
            <a:off x="120406" y="5635385"/>
            <a:ext cx="11951185" cy="1222615"/>
            <a:chOff x="120406" y="5635385"/>
            <a:chExt cx="11951185" cy="1222615"/>
          </a:xfrm>
        </p:grpSpPr>
        <p:grpSp>
          <p:nvGrpSpPr>
            <p:cNvPr id="8" name="Group 7">
              <a:extLst>
                <a:ext uri="{FF2B5EF4-FFF2-40B4-BE49-F238E27FC236}">
                  <a16:creationId xmlns:a16="http://schemas.microsoft.com/office/drawing/2014/main" xmlns="" id="{5C150768-57B2-16FE-C268-9BA71245D689}"/>
                </a:ext>
              </a:extLst>
            </p:cNvPr>
            <p:cNvGrpSpPr/>
            <p:nvPr/>
          </p:nvGrpSpPr>
          <p:grpSpPr>
            <a:xfrm>
              <a:off x="267057" y="5635385"/>
              <a:ext cx="10303749" cy="1222615"/>
              <a:chOff x="50842" y="5529493"/>
              <a:chExt cx="11659590" cy="1249792"/>
            </a:xfrm>
          </p:grpSpPr>
          <p:pic>
            <p:nvPicPr>
              <p:cNvPr id="4" name="Picture 3" descr="A black background with red text&#10;&#10;Description automatically generated">
                <a:extLst>
                  <a:ext uri="{FF2B5EF4-FFF2-40B4-BE49-F238E27FC236}">
                    <a16:creationId xmlns:a16="http://schemas.microsoft.com/office/drawing/2014/main" xmlns="" id="{644BAF15-3FF2-5408-9F20-E44DDE6AB9BD}"/>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b="68890"/>
              <a:stretch/>
            </p:blipFill>
            <p:spPr>
              <a:xfrm>
                <a:off x="50842" y="5610789"/>
                <a:ext cx="3592289" cy="1072139"/>
              </a:xfrm>
              <a:prstGeom prst="rect">
                <a:avLst/>
              </a:prstGeom>
            </p:spPr>
          </p:pic>
          <p:pic>
            <p:nvPicPr>
              <p:cNvPr id="9" name="Picture 8" descr="A blue and green logo&#10;&#10;Description automatically generated">
                <a:extLst>
                  <a:ext uri="{FF2B5EF4-FFF2-40B4-BE49-F238E27FC236}">
                    <a16:creationId xmlns:a16="http://schemas.microsoft.com/office/drawing/2014/main" xmlns="" id="{E27C86C8-A994-9E37-3747-3A52A50E94DD}"/>
                  </a:ext>
                </a:extLst>
              </p:cNvPr>
              <p:cNvPicPr>
                <a:picLocks noChangeAspect="1"/>
              </p:cNvPicPr>
              <p:nvPr/>
            </p:nvPicPr>
            <p:blipFill>
              <a:blip r:embed="rId3" cstate="print">
                <a:extLst>
                  <a:ext uri="{BEBA8EAE-BF5A-486C-A8C5-ECC9F3942E4B}">
                    <a14:imgProps xmlns:a14="http://schemas.microsoft.com/office/drawing/2010/main" xmlns="">
                      <a14:imgLayer r:embed="rId4">
                        <a14:imgEffect>
                          <a14:colorTemperature colorTemp="8800"/>
                        </a14:imgEffect>
                      </a14:imgLayer>
                    </a14:imgProps>
                  </a:ext>
                  <a:ext uri="{28A0092B-C50C-407E-A947-70E740481C1C}">
                    <a14:useLocalDpi xmlns:a14="http://schemas.microsoft.com/office/drawing/2010/main" xmlns="" val="0"/>
                  </a:ext>
                </a:extLst>
              </a:blip>
              <a:stretch>
                <a:fillRect/>
              </a:stretch>
            </p:blipFill>
            <p:spPr>
              <a:xfrm>
                <a:off x="10463614" y="5529493"/>
                <a:ext cx="1246818" cy="1192628"/>
              </a:xfrm>
              <a:prstGeom prst="rect">
                <a:avLst/>
              </a:prstGeom>
            </p:spPr>
          </p:pic>
          <p:pic>
            <p:nvPicPr>
              <p:cNvPr id="14" name="Picture 13" descr="A logo with blue and orange flames&#10;&#10;Description automatically generated">
                <a:extLst>
                  <a:ext uri="{FF2B5EF4-FFF2-40B4-BE49-F238E27FC236}">
                    <a16:creationId xmlns:a16="http://schemas.microsoft.com/office/drawing/2014/main" xmlns="" id="{6F67064C-19F4-3B33-B1DB-77146E009348}"/>
                  </a:ext>
                </a:extLst>
              </p:cNvPr>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8731316" y="5681282"/>
                <a:ext cx="845714" cy="1005840"/>
              </a:xfrm>
              <a:prstGeom prst="rect">
                <a:avLst/>
              </a:prstGeom>
            </p:spPr>
          </p:pic>
          <p:pic>
            <p:nvPicPr>
              <p:cNvPr id="15" name="Picture 14" descr="A red text on a white background&#10;&#10;Description automatically generated">
                <a:extLst>
                  <a:ext uri="{FF2B5EF4-FFF2-40B4-BE49-F238E27FC236}">
                    <a16:creationId xmlns:a16="http://schemas.microsoft.com/office/drawing/2014/main" xmlns="" id="{C901C15A-2A5E-4C06-1AB4-8850396E6C61}"/>
                  </a:ext>
                </a:extLst>
              </p:cNvPr>
              <p:cNvPicPr>
                <a:picLocks noChangeAspect="1"/>
              </p:cNvPicPr>
              <p:nvPr/>
            </p:nvPicPr>
            <p:blipFill>
              <a:blip r:embed="rId6" cstate="print">
                <a:extLst>
                  <a:ext uri="{BEBA8EAE-BF5A-486C-A8C5-ECC9F3942E4B}">
                    <a14:imgProps xmlns:a14="http://schemas.microsoft.com/office/drawing/2010/main" xmlns="">
                      <a14:imgLayer r:embed="rId7">
                        <a14:imgEffect>
                          <a14:backgroundRemoval t="9921" b="89683" l="4778" r="95444">
                            <a14:foregroundMark x1="14000" y1="42063" x2="14000" y2="42063"/>
                            <a14:foregroundMark x1="14000" y1="42063" x2="13222" y2="42063"/>
                            <a14:foregroundMark x1="6222" y1="42063" x2="6222" y2="42063"/>
                            <a14:foregroundMark x1="6222" y1="42063" x2="6222" y2="42063"/>
                            <a14:foregroundMark x1="4778" y1="54762" x2="4778" y2="54762"/>
                            <a14:foregroundMark x1="4778" y1="54762" x2="4778" y2="54762"/>
                            <a14:foregroundMark x1="28667" y1="26587" x2="28667" y2="26587"/>
                            <a14:foregroundMark x1="28667" y1="26587" x2="28667" y2="26587"/>
                            <a14:foregroundMark x1="32778" y1="27381" x2="32778" y2="27381"/>
                            <a14:foregroundMark x1="38889" y1="30952" x2="38889" y2="30952"/>
                            <a14:foregroundMark x1="43556" y1="25397" x2="43556" y2="25397"/>
                            <a14:foregroundMark x1="41444" y1="25397" x2="41444" y2="25397"/>
                            <a14:foregroundMark x1="30444" y1="58730" x2="30444" y2="58730"/>
                            <a14:foregroundMark x1="35889" y1="54762" x2="35889" y2="54762"/>
                            <a14:foregroundMark x1="41000" y1="54762" x2="41000" y2="54762"/>
                            <a14:foregroundMark x1="45333" y1="59524" x2="45333" y2="59524"/>
                            <a14:foregroundMark x1="48667" y1="56746" x2="48667" y2="56746"/>
                            <a14:foregroundMark x1="60222" y1="54762" x2="60222" y2="54762"/>
                            <a14:foregroundMark x1="66444" y1="56746" x2="66444" y2="56746"/>
                            <a14:foregroundMark x1="73111" y1="58730" x2="73111" y2="58730"/>
                            <a14:foregroundMark x1="75667" y1="49603" x2="75667" y2="49603"/>
                            <a14:foregroundMark x1="79556" y1="44841" x2="79556" y2="44841"/>
                            <a14:foregroundMark x1="89333" y1="64286" x2="89333" y2="64286"/>
                            <a14:foregroundMark x1="91889" y1="64286" x2="91889" y2="64286"/>
                            <a14:foregroundMark x1="95444" y1="58730" x2="95444" y2="58730"/>
                            <a14:backgroundMark x1="55333" y1="21825" x2="68000" y2="10714"/>
                            <a14:backgroundMark x1="64889" y1="19048" x2="62111" y2="27381"/>
                          </a14:backgroundRemoval>
                        </a14:imgEffect>
                      </a14:imgLayer>
                    </a14:imgProps>
                  </a:ext>
                  <a:ext uri="{28A0092B-C50C-407E-A947-70E740481C1C}">
                    <a14:useLocalDpi xmlns:a14="http://schemas.microsoft.com/office/drawing/2010/main" xmlns="" val="0"/>
                  </a:ext>
                </a:extLst>
              </a:blip>
              <a:stretch>
                <a:fillRect/>
              </a:stretch>
            </p:blipFill>
            <p:spPr>
              <a:xfrm>
                <a:off x="4321701" y="5716280"/>
                <a:ext cx="3796444" cy="1063005"/>
              </a:xfrm>
              <a:prstGeom prst="rect">
                <a:avLst/>
              </a:prstGeom>
            </p:spPr>
          </p:pic>
        </p:grpSp>
        <p:sp>
          <p:nvSpPr>
            <p:cNvPr id="7" name="TextBox 6">
              <a:extLst>
                <a:ext uri="{FF2B5EF4-FFF2-40B4-BE49-F238E27FC236}">
                  <a16:creationId xmlns:a16="http://schemas.microsoft.com/office/drawing/2014/main" xmlns="" id="{FA558A44-617E-336D-62FC-BBFED37DB343}"/>
                </a:ext>
              </a:extLst>
            </p:cNvPr>
            <p:cNvSpPr txBox="1"/>
            <p:nvPr/>
          </p:nvSpPr>
          <p:spPr>
            <a:xfrm>
              <a:off x="11354293" y="5885382"/>
              <a:ext cx="704039" cy="707886"/>
            </a:xfrm>
            <a:prstGeom prst="rect">
              <a:avLst/>
            </a:prstGeom>
            <a:noFill/>
          </p:spPr>
          <p:txBody>
            <a:bodyPr wrap="none" rtlCol="0">
              <a:spAutoFit/>
            </a:bodyPr>
            <a:lstStyle/>
            <a:p>
              <a:r>
                <a:rPr lang="en-US" sz="4000" b="1" dirty="0" smtClean="0">
                  <a:solidFill>
                    <a:srgbClr val="821634"/>
                  </a:solidFill>
                </a:rPr>
                <a:t>10</a:t>
              </a:r>
              <a:endParaRPr lang="en-US" sz="4000" b="1" dirty="0">
                <a:solidFill>
                  <a:srgbClr val="821634"/>
                </a:solidFill>
              </a:endParaRPr>
            </a:p>
          </p:txBody>
        </p:sp>
        <p:sp>
          <p:nvSpPr>
            <p:cNvPr id="12" name="Rectangle 11">
              <a:extLst>
                <a:ext uri="{FF2B5EF4-FFF2-40B4-BE49-F238E27FC236}">
                  <a16:creationId xmlns:a16="http://schemas.microsoft.com/office/drawing/2014/main" xmlns="" id="{21E134E6-1A89-01C7-1DE5-3DF7FB2D5179}"/>
                </a:ext>
              </a:extLst>
            </p:cNvPr>
            <p:cNvSpPr/>
            <p:nvPr/>
          </p:nvSpPr>
          <p:spPr>
            <a:xfrm>
              <a:off x="120406" y="5819629"/>
              <a:ext cx="11951185" cy="910145"/>
            </a:xfrm>
            <a:prstGeom prst="rect">
              <a:avLst/>
            </a:prstGeom>
            <a:noFill/>
            <a:ln w="38100" cap="flat" cmpd="sng" algn="ctr">
              <a:solidFill>
                <a:srgbClr val="00237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sp>
        <p:nvSpPr>
          <p:cNvPr id="2" name="Rectangle 1">
            <a:extLst>
              <a:ext uri="{FF2B5EF4-FFF2-40B4-BE49-F238E27FC236}">
                <a16:creationId xmlns:a16="http://schemas.microsoft.com/office/drawing/2014/main" xmlns="" id="{99E95036-40BA-D1DC-EDEE-DA7A460CEAA6}"/>
              </a:ext>
            </a:extLst>
          </p:cNvPr>
          <p:cNvSpPr/>
          <p:nvPr/>
        </p:nvSpPr>
        <p:spPr>
          <a:xfrm>
            <a:off x="5977217" y="3244334"/>
            <a:ext cx="237566" cy="369332"/>
          </a:xfrm>
          <a:prstGeom prst="rect">
            <a:avLst/>
          </a:prstGeom>
        </p:spPr>
        <p:txBody>
          <a:bodyPr wrap="none">
            <a:spAutoFit/>
          </a:bodyPr>
          <a:lstStyle/>
          <a:p>
            <a:r>
              <a:rPr lang="fr-FR" dirty="0"/>
              <a:t> </a:t>
            </a:r>
          </a:p>
        </p:txBody>
      </p:sp>
      <p:sp>
        <p:nvSpPr>
          <p:cNvPr id="3" name="Rectangle 2">
            <a:extLst>
              <a:ext uri="{FF2B5EF4-FFF2-40B4-BE49-F238E27FC236}">
                <a16:creationId xmlns:a16="http://schemas.microsoft.com/office/drawing/2014/main" xmlns="" id="{61627490-CCC5-0FF4-F4F5-DE02DCA3C6D2}"/>
              </a:ext>
            </a:extLst>
          </p:cNvPr>
          <p:cNvSpPr/>
          <p:nvPr/>
        </p:nvSpPr>
        <p:spPr>
          <a:xfrm>
            <a:off x="5977217" y="3244334"/>
            <a:ext cx="237566" cy="369332"/>
          </a:xfrm>
          <a:prstGeom prst="rect">
            <a:avLst/>
          </a:prstGeom>
        </p:spPr>
        <p:txBody>
          <a:bodyPr wrap="none">
            <a:spAutoFit/>
          </a:bodyPr>
          <a:lstStyle/>
          <a:p>
            <a:r>
              <a:rPr lang="fr-FR" dirty="0"/>
              <a:t> </a:t>
            </a:r>
          </a:p>
        </p:txBody>
      </p:sp>
      <p:sp>
        <p:nvSpPr>
          <p:cNvPr id="6" name="Rectangle 5">
            <a:extLst>
              <a:ext uri="{FF2B5EF4-FFF2-40B4-BE49-F238E27FC236}">
                <a16:creationId xmlns:a16="http://schemas.microsoft.com/office/drawing/2014/main" xmlns="" id="{E44FCB18-37DB-6081-6AF3-91F5F501BB46}"/>
              </a:ext>
            </a:extLst>
          </p:cNvPr>
          <p:cNvSpPr/>
          <p:nvPr/>
        </p:nvSpPr>
        <p:spPr>
          <a:xfrm>
            <a:off x="5977217" y="3244334"/>
            <a:ext cx="237566" cy="369332"/>
          </a:xfrm>
          <a:prstGeom prst="rect">
            <a:avLst/>
          </a:prstGeom>
        </p:spPr>
        <p:txBody>
          <a:bodyPr wrap="none">
            <a:spAutoFit/>
          </a:bodyPr>
          <a:lstStyle/>
          <a:p>
            <a:r>
              <a:rPr lang="fr-FR" dirty="0"/>
              <a:t> </a:t>
            </a:r>
          </a:p>
        </p:txBody>
      </p:sp>
      <p:sp>
        <p:nvSpPr>
          <p:cNvPr id="10" name="Rectangle 9">
            <a:extLst>
              <a:ext uri="{FF2B5EF4-FFF2-40B4-BE49-F238E27FC236}">
                <a16:creationId xmlns:a16="http://schemas.microsoft.com/office/drawing/2014/main" xmlns="" id="{EE45E5BA-AC04-8DAC-92BE-33DA4C6A5F2D}"/>
              </a:ext>
            </a:extLst>
          </p:cNvPr>
          <p:cNvSpPr/>
          <p:nvPr/>
        </p:nvSpPr>
        <p:spPr>
          <a:xfrm>
            <a:off x="5977217" y="3244334"/>
            <a:ext cx="237566" cy="369332"/>
          </a:xfrm>
          <a:prstGeom prst="rect">
            <a:avLst/>
          </a:prstGeom>
        </p:spPr>
        <p:txBody>
          <a:bodyPr wrap="none">
            <a:spAutoFit/>
          </a:bodyPr>
          <a:lstStyle/>
          <a:p>
            <a:r>
              <a:rPr lang="fr-FR" dirty="0"/>
              <a:t> </a:t>
            </a:r>
          </a:p>
        </p:txBody>
      </p:sp>
      <p:sp>
        <p:nvSpPr>
          <p:cNvPr id="13" name="Rectangle 12">
            <a:extLst>
              <a:ext uri="{FF2B5EF4-FFF2-40B4-BE49-F238E27FC236}">
                <a16:creationId xmlns:a16="http://schemas.microsoft.com/office/drawing/2014/main" xmlns="" id="{134A15F0-8FE3-ADAB-6823-3213DC74FE38}"/>
              </a:ext>
            </a:extLst>
          </p:cNvPr>
          <p:cNvSpPr/>
          <p:nvPr/>
        </p:nvSpPr>
        <p:spPr>
          <a:xfrm>
            <a:off x="5977217" y="3244334"/>
            <a:ext cx="237566" cy="369332"/>
          </a:xfrm>
          <a:prstGeom prst="rect">
            <a:avLst/>
          </a:prstGeom>
        </p:spPr>
        <p:txBody>
          <a:bodyPr wrap="none">
            <a:spAutoFit/>
          </a:bodyPr>
          <a:lstStyle/>
          <a:p>
            <a:r>
              <a:rPr lang="fr-FR" dirty="0"/>
              <a:t> </a:t>
            </a:r>
          </a:p>
        </p:txBody>
      </p:sp>
      <p:sp>
        <p:nvSpPr>
          <p:cNvPr id="19" name="ZoneTexte 18">
            <a:extLst>
              <a:ext uri="{FF2B5EF4-FFF2-40B4-BE49-F238E27FC236}">
                <a16:creationId xmlns:a16="http://schemas.microsoft.com/office/drawing/2014/main" xmlns="" id="{5AD06DFB-A778-FC60-8FAA-7BD7EE9E013F}"/>
              </a:ext>
            </a:extLst>
          </p:cNvPr>
          <p:cNvSpPr txBox="1"/>
          <p:nvPr/>
        </p:nvSpPr>
        <p:spPr>
          <a:xfrm>
            <a:off x="410547" y="363894"/>
            <a:ext cx="11388098" cy="923330"/>
          </a:xfrm>
          <a:prstGeom prst="rect">
            <a:avLst/>
          </a:prstGeom>
          <a:noFill/>
        </p:spPr>
        <p:txBody>
          <a:bodyPr wrap="square" rtlCol="0">
            <a:spAutoFit/>
          </a:bodyPr>
          <a:lstStyle/>
          <a:p>
            <a:r>
              <a:rPr lang="fr-FR" b="1" dirty="0">
                <a:solidFill>
                  <a:srgbClr val="002371"/>
                </a:solidFill>
                <a:latin typeface="Times New Roman" panose="02020603050405020304" pitchFamily="18" charset="0"/>
                <a:cs typeface="Times New Roman" panose="02020603050405020304" pitchFamily="18" charset="0"/>
              </a:rPr>
              <a:t>+</a:t>
            </a:r>
            <a:r>
              <a:rPr lang="fr-FR" dirty="0"/>
              <a:t>Intégration des Capteurs : Installer et configurer les capteurs adéquats directement sur le microcontrôleur STM32 pour une acquisition précise et en temps réel des données essentielles (position, vitesse, environnement).</a:t>
            </a:r>
          </a:p>
          <a:p>
            <a:pPr marL="342900" indent="-342900">
              <a:buAutoNum type="arabicPeriod"/>
            </a:pPr>
            <a:endParaRPr lang="fr-FR" dirty="0"/>
          </a:p>
        </p:txBody>
      </p:sp>
      <p:pic>
        <p:nvPicPr>
          <p:cNvPr id="11" name="Image 10" descr="Une image contenant capture d’écran, texte, conception&#10;&#10;Description générée automatiquement">
            <a:extLst>
              <a:ext uri="{FF2B5EF4-FFF2-40B4-BE49-F238E27FC236}">
                <a16:creationId xmlns:a16="http://schemas.microsoft.com/office/drawing/2014/main" xmlns="" id="{5CBD6A0F-E3E4-3843-19C0-3FB693664695}"/>
              </a:ext>
            </a:extLst>
          </p:cNvPr>
          <p:cNvPicPr>
            <a:picLocks noChangeAspect="1"/>
          </p:cNvPicPr>
          <p:nvPr/>
        </p:nvPicPr>
        <p:blipFill>
          <a:blip r:embed="rId8" cstate="print">
            <a:extLst>
              <a:ext uri="{28A0092B-C50C-407E-A947-70E740481C1C}">
                <a14:useLocalDpi xmlns:a14="http://schemas.microsoft.com/office/drawing/2010/main" xmlns="" val="0"/>
              </a:ext>
            </a:extLst>
          </a:blip>
          <a:stretch>
            <a:fillRect/>
          </a:stretch>
        </p:blipFill>
        <p:spPr>
          <a:xfrm>
            <a:off x="1854336" y="1471468"/>
            <a:ext cx="8894763" cy="3282024"/>
          </a:xfrm>
          <a:prstGeom prst="rect">
            <a:avLst/>
          </a:prstGeom>
        </p:spPr>
      </p:pic>
    </p:spTree>
    <p:extLst>
      <p:ext uri="{BB962C8B-B14F-4D97-AF65-F5344CB8AC3E}">
        <p14:creationId xmlns:p14="http://schemas.microsoft.com/office/powerpoint/2010/main" xmlns="" val="1974228651"/>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DEE1958-EF4C-0079-5117-D9386FFA28F3}"/>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xmlns="" id="{5B0D3036-C0AC-720A-94E0-E96CAF58604E}"/>
              </a:ext>
            </a:extLst>
          </p:cNvPr>
          <p:cNvGrpSpPr/>
          <p:nvPr/>
        </p:nvGrpSpPr>
        <p:grpSpPr>
          <a:xfrm>
            <a:off x="120406" y="5635385"/>
            <a:ext cx="11951185" cy="1222615"/>
            <a:chOff x="120406" y="5635385"/>
            <a:chExt cx="11951185" cy="1222615"/>
          </a:xfrm>
        </p:grpSpPr>
        <p:grpSp>
          <p:nvGrpSpPr>
            <p:cNvPr id="8" name="Group 7">
              <a:extLst>
                <a:ext uri="{FF2B5EF4-FFF2-40B4-BE49-F238E27FC236}">
                  <a16:creationId xmlns:a16="http://schemas.microsoft.com/office/drawing/2014/main" xmlns="" id="{DEA9DAA6-07D7-95F2-71AF-E555EED8EB6E}"/>
                </a:ext>
              </a:extLst>
            </p:cNvPr>
            <p:cNvGrpSpPr/>
            <p:nvPr/>
          </p:nvGrpSpPr>
          <p:grpSpPr>
            <a:xfrm>
              <a:off x="267057" y="5635385"/>
              <a:ext cx="10303749" cy="1222615"/>
              <a:chOff x="50842" y="5529493"/>
              <a:chExt cx="11659590" cy="1249792"/>
            </a:xfrm>
          </p:grpSpPr>
          <p:pic>
            <p:nvPicPr>
              <p:cNvPr id="4" name="Picture 3" descr="A black background with red text&#10;&#10;Description automatically generated">
                <a:extLst>
                  <a:ext uri="{FF2B5EF4-FFF2-40B4-BE49-F238E27FC236}">
                    <a16:creationId xmlns:a16="http://schemas.microsoft.com/office/drawing/2014/main" xmlns="" id="{838EBA23-1647-7581-968C-393DB09FBA68}"/>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b="68890"/>
              <a:stretch/>
            </p:blipFill>
            <p:spPr>
              <a:xfrm>
                <a:off x="50842" y="5610789"/>
                <a:ext cx="3592289" cy="1072139"/>
              </a:xfrm>
              <a:prstGeom prst="rect">
                <a:avLst/>
              </a:prstGeom>
            </p:spPr>
          </p:pic>
          <p:pic>
            <p:nvPicPr>
              <p:cNvPr id="9" name="Picture 8" descr="A blue and green logo&#10;&#10;Description automatically generated">
                <a:extLst>
                  <a:ext uri="{FF2B5EF4-FFF2-40B4-BE49-F238E27FC236}">
                    <a16:creationId xmlns:a16="http://schemas.microsoft.com/office/drawing/2014/main" xmlns="" id="{BCF8D574-6CC4-C86D-F814-66E3E2415205}"/>
                  </a:ext>
                </a:extLst>
              </p:cNvPr>
              <p:cNvPicPr>
                <a:picLocks noChangeAspect="1"/>
              </p:cNvPicPr>
              <p:nvPr/>
            </p:nvPicPr>
            <p:blipFill>
              <a:blip r:embed="rId3" cstate="print">
                <a:extLst>
                  <a:ext uri="{BEBA8EAE-BF5A-486C-A8C5-ECC9F3942E4B}">
                    <a14:imgProps xmlns:a14="http://schemas.microsoft.com/office/drawing/2010/main" xmlns="">
                      <a14:imgLayer r:embed="rId4">
                        <a14:imgEffect>
                          <a14:colorTemperature colorTemp="8800"/>
                        </a14:imgEffect>
                      </a14:imgLayer>
                    </a14:imgProps>
                  </a:ext>
                  <a:ext uri="{28A0092B-C50C-407E-A947-70E740481C1C}">
                    <a14:useLocalDpi xmlns:a14="http://schemas.microsoft.com/office/drawing/2010/main" xmlns="" val="0"/>
                  </a:ext>
                </a:extLst>
              </a:blip>
              <a:stretch>
                <a:fillRect/>
              </a:stretch>
            </p:blipFill>
            <p:spPr>
              <a:xfrm>
                <a:off x="10463614" y="5529493"/>
                <a:ext cx="1246818" cy="1192628"/>
              </a:xfrm>
              <a:prstGeom prst="rect">
                <a:avLst/>
              </a:prstGeom>
            </p:spPr>
          </p:pic>
          <p:pic>
            <p:nvPicPr>
              <p:cNvPr id="14" name="Picture 13" descr="A logo with blue and orange flames&#10;&#10;Description automatically generated">
                <a:extLst>
                  <a:ext uri="{FF2B5EF4-FFF2-40B4-BE49-F238E27FC236}">
                    <a16:creationId xmlns:a16="http://schemas.microsoft.com/office/drawing/2014/main" xmlns="" id="{3C0A3BFB-239F-25BB-ADD2-288731E4F304}"/>
                  </a:ext>
                </a:extLst>
              </p:cNvPr>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8731316" y="5681282"/>
                <a:ext cx="845714" cy="1005840"/>
              </a:xfrm>
              <a:prstGeom prst="rect">
                <a:avLst/>
              </a:prstGeom>
            </p:spPr>
          </p:pic>
          <p:pic>
            <p:nvPicPr>
              <p:cNvPr id="15" name="Picture 14" descr="A red text on a white background&#10;&#10;Description automatically generated">
                <a:extLst>
                  <a:ext uri="{FF2B5EF4-FFF2-40B4-BE49-F238E27FC236}">
                    <a16:creationId xmlns:a16="http://schemas.microsoft.com/office/drawing/2014/main" xmlns="" id="{AF40BC2F-2D55-9DC7-F926-927EA1736C8D}"/>
                  </a:ext>
                </a:extLst>
              </p:cNvPr>
              <p:cNvPicPr>
                <a:picLocks noChangeAspect="1"/>
              </p:cNvPicPr>
              <p:nvPr/>
            </p:nvPicPr>
            <p:blipFill>
              <a:blip r:embed="rId6" cstate="print">
                <a:extLst>
                  <a:ext uri="{BEBA8EAE-BF5A-486C-A8C5-ECC9F3942E4B}">
                    <a14:imgProps xmlns:a14="http://schemas.microsoft.com/office/drawing/2010/main" xmlns="">
                      <a14:imgLayer r:embed="rId7">
                        <a14:imgEffect>
                          <a14:backgroundRemoval t="9921" b="89683" l="4778" r="95444">
                            <a14:foregroundMark x1="14000" y1="42063" x2="14000" y2="42063"/>
                            <a14:foregroundMark x1="14000" y1="42063" x2="13222" y2="42063"/>
                            <a14:foregroundMark x1="6222" y1="42063" x2="6222" y2="42063"/>
                            <a14:foregroundMark x1="6222" y1="42063" x2="6222" y2="42063"/>
                            <a14:foregroundMark x1="4778" y1="54762" x2="4778" y2="54762"/>
                            <a14:foregroundMark x1="4778" y1="54762" x2="4778" y2="54762"/>
                            <a14:foregroundMark x1="28667" y1="26587" x2="28667" y2="26587"/>
                            <a14:foregroundMark x1="28667" y1="26587" x2="28667" y2="26587"/>
                            <a14:foregroundMark x1="32778" y1="27381" x2="32778" y2="27381"/>
                            <a14:foregroundMark x1="38889" y1="30952" x2="38889" y2="30952"/>
                            <a14:foregroundMark x1="43556" y1="25397" x2="43556" y2="25397"/>
                            <a14:foregroundMark x1="41444" y1="25397" x2="41444" y2="25397"/>
                            <a14:foregroundMark x1="30444" y1="58730" x2="30444" y2="58730"/>
                            <a14:foregroundMark x1="35889" y1="54762" x2="35889" y2="54762"/>
                            <a14:foregroundMark x1="41000" y1="54762" x2="41000" y2="54762"/>
                            <a14:foregroundMark x1="45333" y1="59524" x2="45333" y2="59524"/>
                            <a14:foregroundMark x1="48667" y1="56746" x2="48667" y2="56746"/>
                            <a14:foregroundMark x1="60222" y1="54762" x2="60222" y2="54762"/>
                            <a14:foregroundMark x1="66444" y1="56746" x2="66444" y2="56746"/>
                            <a14:foregroundMark x1="73111" y1="58730" x2="73111" y2="58730"/>
                            <a14:foregroundMark x1="75667" y1="49603" x2="75667" y2="49603"/>
                            <a14:foregroundMark x1="79556" y1="44841" x2="79556" y2="44841"/>
                            <a14:foregroundMark x1="89333" y1="64286" x2="89333" y2="64286"/>
                            <a14:foregroundMark x1="91889" y1="64286" x2="91889" y2="64286"/>
                            <a14:foregroundMark x1="95444" y1="58730" x2="95444" y2="58730"/>
                            <a14:backgroundMark x1="55333" y1="21825" x2="68000" y2="10714"/>
                            <a14:backgroundMark x1="64889" y1="19048" x2="62111" y2="27381"/>
                          </a14:backgroundRemoval>
                        </a14:imgEffect>
                      </a14:imgLayer>
                    </a14:imgProps>
                  </a:ext>
                  <a:ext uri="{28A0092B-C50C-407E-A947-70E740481C1C}">
                    <a14:useLocalDpi xmlns:a14="http://schemas.microsoft.com/office/drawing/2010/main" xmlns="" val="0"/>
                  </a:ext>
                </a:extLst>
              </a:blip>
              <a:stretch>
                <a:fillRect/>
              </a:stretch>
            </p:blipFill>
            <p:spPr>
              <a:xfrm>
                <a:off x="4321701" y="5716280"/>
                <a:ext cx="3796444" cy="1063005"/>
              </a:xfrm>
              <a:prstGeom prst="rect">
                <a:avLst/>
              </a:prstGeom>
            </p:spPr>
          </p:pic>
        </p:grpSp>
        <p:sp>
          <p:nvSpPr>
            <p:cNvPr id="7" name="TextBox 6">
              <a:extLst>
                <a:ext uri="{FF2B5EF4-FFF2-40B4-BE49-F238E27FC236}">
                  <a16:creationId xmlns:a16="http://schemas.microsoft.com/office/drawing/2014/main" xmlns="" id="{208BFF15-159A-84EB-1A36-4E57C127A087}"/>
                </a:ext>
              </a:extLst>
            </p:cNvPr>
            <p:cNvSpPr txBox="1"/>
            <p:nvPr/>
          </p:nvSpPr>
          <p:spPr>
            <a:xfrm>
              <a:off x="11354293" y="5885382"/>
              <a:ext cx="704039" cy="707886"/>
            </a:xfrm>
            <a:prstGeom prst="rect">
              <a:avLst/>
            </a:prstGeom>
            <a:noFill/>
          </p:spPr>
          <p:txBody>
            <a:bodyPr wrap="none" rtlCol="0">
              <a:spAutoFit/>
            </a:bodyPr>
            <a:lstStyle/>
            <a:p>
              <a:r>
                <a:rPr lang="en-US" sz="4000" b="1" dirty="0" smtClean="0">
                  <a:solidFill>
                    <a:srgbClr val="821634"/>
                  </a:solidFill>
                </a:rPr>
                <a:t>11</a:t>
              </a:r>
              <a:endParaRPr lang="en-US" sz="4000" b="1" dirty="0">
                <a:solidFill>
                  <a:srgbClr val="821634"/>
                </a:solidFill>
              </a:endParaRPr>
            </a:p>
          </p:txBody>
        </p:sp>
        <p:sp>
          <p:nvSpPr>
            <p:cNvPr id="12" name="Rectangle 11">
              <a:extLst>
                <a:ext uri="{FF2B5EF4-FFF2-40B4-BE49-F238E27FC236}">
                  <a16:creationId xmlns:a16="http://schemas.microsoft.com/office/drawing/2014/main" xmlns="" id="{E0D23F73-2420-5D70-B22D-022CD23B8002}"/>
                </a:ext>
              </a:extLst>
            </p:cNvPr>
            <p:cNvSpPr/>
            <p:nvPr/>
          </p:nvSpPr>
          <p:spPr>
            <a:xfrm>
              <a:off x="120406" y="5819629"/>
              <a:ext cx="11951185" cy="910145"/>
            </a:xfrm>
            <a:prstGeom prst="rect">
              <a:avLst/>
            </a:prstGeom>
            <a:noFill/>
            <a:ln w="38100" cap="flat" cmpd="sng" algn="ctr">
              <a:solidFill>
                <a:srgbClr val="00237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sp>
        <p:nvSpPr>
          <p:cNvPr id="2" name="Rectangle 1">
            <a:extLst>
              <a:ext uri="{FF2B5EF4-FFF2-40B4-BE49-F238E27FC236}">
                <a16:creationId xmlns:a16="http://schemas.microsoft.com/office/drawing/2014/main" xmlns="" id="{B7732CFA-0FC9-544E-162B-353CAE7BBA22}"/>
              </a:ext>
            </a:extLst>
          </p:cNvPr>
          <p:cNvSpPr/>
          <p:nvPr/>
        </p:nvSpPr>
        <p:spPr>
          <a:xfrm>
            <a:off x="5977217" y="3244334"/>
            <a:ext cx="237566" cy="369332"/>
          </a:xfrm>
          <a:prstGeom prst="rect">
            <a:avLst/>
          </a:prstGeom>
        </p:spPr>
        <p:txBody>
          <a:bodyPr wrap="none">
            <a:spAutoFit/>
          </a:bodyPr>
          <a:lstStyle/>
          <a:p>
            <a:r>
              <a:rPr lang="fr-FR" dirty="0"/>
              <a:t> </a:t>
            </a:r>
          </a:p>
        </p:txBody>
      </p:sp>
      <p:sp>
        <p:nvSpPr>
          <p:cNvPr id="3" name="Rectangle 2">
            <a:extLst>
              <a:ext uri="{FF2B5EF4-FFF2-40B4-BE49-F238E27FC236}">
                <a16:creationId xmlns:a16="http://schemas.microsoft.com/office/drawing/2014/main" xmlns="" id="{B3246742-D97A-73CE-BA4D-1446EA012440}"/>
              </a:ext>
            </a:extLst>
          </p:cNvPr>
          <p:cNvSpPr/>
          <p:nvPr/>
        </p:nvSpPr>
        <p:spPr>
          <a:xfrm>
            <a:off x="5977217" y="3244334"/>
            <a:ext cx="237566" cy="369332"/>
          </a:xfrm>
          <a:prstGeom prst="rect">
            <a:avLst/>
          </a:prstGeom>
        </p:spPr>
        <p:txBody>
          <a:bodyPr wrap="none">
            <a:spAutoFit/>
          </a:bodyPr>
          <a:lstStyle/>
          <a:p>
            <a:r>
              <a:rPr lang="fr-FR" dirty="0"/>
              <a:t> </a:t>
            </a:r>
          </a:p>
        </p:txBody>
      </p:sp>
      <p:sp>
        <p:nvSpPr>
          <p:cNvPr id="6" name="Rectangle 5">
            <a:extLst>
              <a:ext uri="{FF2B5EF4-FFF2-40B4-BE49-F238E27FC236}">
                <a16:creationId xmlns:a16="http://schemas.microsoft.com/office/drawing/2014/main" xmlns="" id="{393ED173-AE0F-12B5-A8BD-72B6EC97A52A}"/>
              </a:ext>
            </a:extLst>
          </p:cNvPr>
          <p:cNvSpPr/>
          <p:nvPr/>
        </p:nvSpPr>
        <p:spPr>
          <a:xfrm>
            <a:off x="5977217" y="3244334"/>
            <a:ext cx="237566" cy="369332"/>
          </a:xfrm>
          <a:prstGeom prst="rect">
            <a:avLst/>
          </a:prstGeom>
        </p:spPr>
        <p:txBody>
          <a:bodyPr wrap="none">
            <a:spAutoFit/>
          </a:bodyPr>
          <a:lstStyle/>
          <a:p>
            <a:r>
              <a:rPr lang="fr-FR" dirty="0"/>
              <a:t> </a:t>
            </a:r>
          </a:p>
        </p:txBody>
      </p:sp>
      <p:sp>
        <p:nvSpPr>
          <p:cNvPr id="10" name="Rectangle 9">
            <a:extLst>
              <a:ext uri="{FF2B5EF4-FFF2-40B4-BE49-F238E27FC236}">
                <a16:creationId xmlns:a16="http://schemas.microsoft.com/office/drawing/2014/main" xmlns="" id="{B520A920-65A7-302A-4F3E-47F084C15370}"/>
              </a:ext>
            </a:extLst>
          </p:cNvPr>
          <p:cNvSpPr/>
          <p:nvPr/>
        </p:nvSpPr>
        <p:spPr>
          <a:xfrm>
            <a:off x="5977217" y="3244334"/>
            <a:ext cx="237566" cy="369332"/>
          </a:xfrm>
          <a:prstGeom prst="rect">
            <a:avLst/>
          </a:prstGeom>
        </p:spPr>
        <p:txBody>
          <a:bodyPr wrap="none">
            <a:spAutoFit/>
          </a:bodyPr>
          <a:lstStyle/>
          <a:p>
            <a:r>
              <a:rPr lang="fr-FR" dirty="0"/>
              <a:t> </a:t>
            </a:r>
          </a:p>
        </p:txBody>
      </p:sp>
      <p:sp>
        <p:nvSpPr>
          <p:cNvPr id="13" name="Rectangle 12">
            <a:extLst>
              <a:ext uri="{FF2B5EF4-FFF2-40B4-BE49-F238E27FC236}">
                <a16:creationId xmlns:a16="http://schemas.microsoft.com/office/drawing/2014/main" xmlns="" id="{49B42AA1-87EF-C268-6D27-87A0F4E44D02}"/>
              </a:ext>
            </a:extLst>
          </p:cNvPr>
          <p:cNvSpPr/>
          <p:nvPr/>
        </p:nvSpPr>
        <p:spPr>
          <a:xfrm>
            <a:off x="5977217" y="3244334"/>
            <a:ext cx="237566" cy="369332"/>
          </a:xfrm>
          <a:prstGeom prst="rect">
            <a:avLst/>
          </a:prstGeom>
        </p:spPr>
        <p:txBody>
          <a:bodyPr wrap="none">
            <a:spAutoFit/>
          </a:bodyPr>
          <a:lstStyle/>
          <a:p>
            <a:r>
              <a:rPr lang="fr-FR" dirty="0"/>
              <a:t> </a:t>
            </a:r>
          </a:p>
        </p:txBody>
      </p:sp>
      <p:sp>
        <p:nvSpPr>
          <p:cNvPr id="19" name="ZoneTexte 18">
            <a:extLst>
              <a:ext uri="{FF2B5EF4-FFF2-40B4-BE49-F238E27FC236}">
                <a16:creationId xmlns:a16="http://schemas.microsoft.com/office/drawing/2014/main" xmlns="" id="{11A6BE31-C665-3E50-28E4-1EC7CD7F6A15}"/>
              </a:ext>
            </a:extLst>
          </p:cNvPr>
          <p:cNvSpPr txBox="1"/>
          <p:nvPr/>
        </p:nvSpPr>
        <p:spPr>
          <a:xfrm>
            <a:off x="410547" y="1334278"/>
            <a:ext cx="11388098" cy="2862322"/>
          </a:xfrm>
          <a:prstGeom prst="rect">
            <a:avLst/>
          </a:prstGeom>
          <a:noFill/>
        </p:spPr>
        <p:txBody>
          <a:bodyPr wrap="square" rtlCol="0">
            <a:spAutoFit/>
          </a:bodyPr>
          <a:lstStyle/>
          <a:p>
            <a:r>
              <a:rPr lang="fr-FR" sz="1800" b="1" dirty="0">
                <a:solidFill>
                  <a:srgbClr val="002371"/>
                </a:solidFill>
                <a:latin typeface="Times New Roman" panose="02020603050405020304" pitchFamily="18" charset="0"/>
                <a:cs typeface="Times New Roman" panose="02020603050405020304" pitchFamily="18" charset="0"/>
              </a:rPr>
              <a:t>3. Etape suivante dans le projet:</a:t>
            </a:r>
            <a:endParaRPr lang="fr-FR" dirty="0"/>
          </a:p>
          <a:p>
            <a:r>
              <a:rPr lang="fr-FR" dirty="0"/>
              <a:t>1. Consolidation des Composants : Fusionner les différentes parties du système ( acquisition, transmission via LoRa, et affichage graphique en temps réel )afin de créer une solution intégrée et fonctionnelle, prête à l’utilisation.</a:t>
            </a:r>
          </a:p>
          <a:p>
            <a:endParaRPr lang="fr-FR" dirty="0"/>
          </a:p>
          <a:p>
            <a:r>
              <a:rPr lang="fr-FR" dirty="0"/>
              <a:t>2. Optimisation de la Fiabilité : Tester et améliorer la robustesse du système pour garantir une transmission continue et précise des données, réduire la latence, et optimiser la performance globale du projet. </a:t>
            </a:r>
          </a:p>
          <a:p>
            <a:endParaRPr lang="fr-FR" dirty="0"/>
          </a:p>
          <a:p>
            <a:r>
              <a:rPr lang="fr-FR" dirty="0"/>
              <a:t>Ces étapes permettront d’obtenir une solution finale efficace, fiable et prête pour une utilisation pratique sur le véhicule autonome.</a:t>
            </a:r>
          </a:p>
          <a:p>
            <a:endParaRPr lang="fr-FR" dirty="0"/>
          </a:p>
        </p:txBody>
      </p:sp>
    </p:spTree>
    <p:extLst>
      <p:ext uri="{BB962C8B-B14F-4D97-AF65-F5344CB8AC3E}">
        <p14:creationId xmlns:p14="http://schemas.microsoft.com/office/powerpoint/2010/main" xmlns="" val="2653859410"/>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2A183343-A0C2-BEBF-FE73-9BDBC34B4097}"/>
              </a:ext>
            </a:extLst>
          </p:cNvPr>
          <p:cNvSpPr txBox="1"/>
          <p:nvPr/>
        </p:nvSpPr>
        <p:spPr>
          <a:xfrm>
            <a:off x="3203457" y="2330845"/>
            <a:ext cx="5883534" cy="2840136"/>
          </a:xfrm>
          <a:prstGeom prst="rect">
            <a:avLst/>
          </a:prstGeom>
          <a:noFill/>
        </p:spPr>
        <p:txBody>
          <a:bodyPr wrap="square">
            <a:spAutoFit/>
          </a:bodyPr>
          <a:lstStyle/>
          <a:p>
            <a:pPr algn="ctr">
              <a:lnSpc>
                <a:spcPct val="200000"/>
              </a:lnSpc>
            </a:pPr>
            <a:r>
              <a:rPr lang="fr-FR" sz="4800" b="1" dirty="0">
                <a:solidFill>
                  <a:schemeClr val="bg2">
                    <a:lumMod val="10000"/>
                  </a:schemeClr>
                </a:solidFill>
              </a:rPr>
              <a:t>Merci de votre attention</a:t>
            </a:r>
            <a:endParaRPr lang="en-US" sz="4800" dirty="0">
              <a:solidFill>
                <a:schemeClr val="bg2">
                  <a:lumMod val="10000"/>
                </a:schemeClr>
              </a:solidFill>
            </a:endParaRPr>
          </a:p>
        </p:txBody>
      </p:sp>
      <p:sp>
        <p:nvSpPr>
          <p:cNvPr id="10" name="Diamond 9">
            <a:extLst>
              <a:ext uri="{FF2B5EF4-FFF2-40B4-BE49-F238E27FC236}">
                <a16:creationId xmlns:a16="http://schemas.microsoft.com/office/drawing/2014/main" xmlns="" id="{EFCEC8AD-4521-B50D-49D6-6BC4470804B0}"/>
              </a:ext>
            </a:extLst>
          </p:cNvPr>
          <p:cNvSpPr/>
          <p:nvPr/>
        </p:nvSpPr>
        <p:spPr>
          <a:xfrm>
            <a:off x="3203457" y="939389"/>
            <a:ext cx="5783442" cy="5308393"/>
          </a:xfrm>
          <a:prstGeom prst="diamond">
            <a:avLst/>
          </a:prstGeom>
          <a:noFill/>
          <a:ln w="38100">
            <a:solidFill>
              <a:srgbClr val="1A18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xmlns="" id="{3DD9CF20-5B48-24B7-9990-BAABC779B0E1}"/>
              </a:ext>
            </a:extLst>
          </p:cNvPr>
          <p:cNvSpPr/>
          <p:nvPr/>
        </p:nvSpPr>
        <p:spPr>
          <a:xfrm>
            <a:off x="3203457" y="1420212"/>
            <a:ext cx="5783442" cy="5308392"/>
          </a:xfrm>
          <a:prstGeom prst="diamond">
            <a:avLst/>
          </a:prstGeom>
          <a:noFill/>
          <a:ln w="38100">
            <a:solidFill>
              <a:srgbClr val="8216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ack background with red text&#10;&#10;Description automatically generated">
            <a:extLst>
              <a:ext uri="{FF2B5EF4-FFF2-40B4-BE49-F238E27FC236}">
                <a16:creationId xmlns:a16="http://schemas.microsoft.com/office/drawing/2014/main" xmlns="" id="{4848FCA6-8268-1BA4-F918-28CF1D65E4C8}"/>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b="68890"/>
          <a:stretch/>
        </p:blipFill>
        <p:spPr>
          <a:xfrm>
            <a:off x="266205" y="-42128"/>
            <a:ext cx="3592289" cy="1072139"/>
          </a:xfrm>
          <a:prstGeom prst="rect">
            <a:avLst/>
          </a:prstGeom>
        </p:spPr>
      </p:pic>
      <p:pic>
        <p:nvPicPr>
          <p:cNvPr id="3" name="Picture 2" descr="A blue and green logo&#10;&#10;Description automatically generated">
            <a:extLst>
              <a:ext uri="{FF2B5EF4-FFF2-40B4-BE49-F238E27FC236}">
                <a16:creationId xmlns:a16="http://schemas.microsoft.com/office/drawing/2014/main" xmlns="" id="{81841B56-315A-1A1A-227A-AE760F4462D6}"/>
              </a:ext>
            </a:extLst>
          </p:cNvPr>
          <p:cNvPicPr>
            <a:picLocks noChangeAspect="1"/>
          </p:cNvPicPr>
          <p:nvPr/>
        </p:nvPicPr>
        <p:blipFill>
          <a:blip r:embed="rId3" cstate="print">
            <a:extLst>
              <a:ext uri="{BEBA8EAE-BF5A-486C-A8C5-ECC9F3942E4B}">
                <a14:imgProps xmlns:a14="http://schemas.microsoft.com/office/drawing/2010/main" xmlns="">
                  <a14:imgLayer r:embed="rId4">
                    <a14:imgEffect>
                      <a14:colorTemperature colorTemp="8800"/>
                    </a14:imgEffect>
                  </a14:imgLayer>
                </a14:imgProps>
              </a:ext>
              <a:ext uri="{28A0092B-C50C-407E-A947-70E740481C1C}">
                <a14:useLocalDpi xmlns:a14="http://schemas.microsoft.com/office/drawing/2010/main" xmlns="" val="0"/>
              </a:ext>
            </a:extLst>
          </a:blip>
          <a:stretch>
            <a:fillRect/>
          </a:stretch>
        </p:blipFill>
        <p:spPr>
          <a:xfrm>
            <a:off x="10678977" y="-123424"/>
            <a:ext cx="1246818" cy="1192628"/>
          </a:xfrm>
          <a:prstGeom prst="rect">
            <a:avLst/>
          </a:prstGeom>
        </p:spPr>
      </p:pic>
      <p:pic>
        <p:nvPicPr>
          <p:cNvPr id="4" name="Picture 3" descr="A logo with blue and orange flames&#10;&#10;Description automatically generated">
            <a:extLst>
              <a:ext uri="{FF2B5EF4-FFF2-40B4-BE49-F238E27FC236}">
                <a16:creationId xmlns:a16="http://schemas.microsoft.com/office/drawing/2014/main" xmlns="" id="{489038B8-97A0-B2B0-024A-66439D61711B}"/>
              </a:ext>
            </a:extLst>
          </p:cNvPr>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8946679" y="28365"/>
            <a:ext cx="845714" cy="1005840"/>
          </a:xfrm>
          <a:prstGeom prst="rect">
            <a:avLst/>
          </a:prstGeom>
        </p:spPr>
      </p:pic>
      <p:pic>
        <p:nvPicPr>
          <p:cNvPr id="6" name="Picture 5" descr="A red text on a white background&#10;&#10;Description automatically generated">
            <a:extLst>
              <a:ext uri="{FF2B5EF4-FFF2-40B4-BE49-F238E27FC236}">
                <a16:creationId xmlns:a16="http://schemas.microsoft.com/office/drawing/2014/main" xmlns="" id="{506A0043-8929-9D39-0AA4-71CA7079B796}"/>
              </a:ext>
            </a:extLst>
          </p:cNvPr>
          <p:cNvPicPr>
            <a:picLocks noChangeAspect="1"/>
          </p:cNvPicPr>
          <p:nvPr/>
        </p:nvPicPr>
        <p:blipFill>
          <a:blip r:embed="rId6" cstate="print">
            <a:extLst>
              <a:ext uri="{BEBA8EAE-BF5A-486C-A8C5-ECC9F3942E4B}">
                <a14:imgProps xmlns:a14="http://schemas.microsoft.com/office/drawing/2010/main" xmlns="">
                  <a14:imgLayer r:embed="rId7">
                    <a14:imgEffect>
                      <a14:backgroundRemoval t="9921" b="89683" l="4778" r="95444">
                        <a14:foregroundMark x1="14000" y1="42063" x2="14000" y2="42063"/>
                        <a14:foregroundMark x1="14000" y1="42063" x2="13222" y2="42063"/>
                        <a14:foregroundMark x1="6222" y1="42063" x2="6222" y2="42063"/>
                        <a14:foregroundMark x1="6222" y1="42063" x2="6222" y2="42063"/>
                        <a14:foregroundMark x1="4778" y1="54762" x2="4778" y2="54762"/>
                        <a14:foregroundMark x1="4778" y1="54762" x2="4778" y2="54762"/>
                        <a14:foregroundMark x1="28667" y1="26587" x2="28667" y2="26587"/>
                        <a14:foregroundMark x1="28667" y1="26587" x2="28667" y2="26587"/>
                        <a14:foregroundMark x1="32778" y1="27381" x2="32778" y2="27381"/>
                        <a14:foregroundMark x1="38889" y1="30952" x2="38889" y2="30952"/>
                        <a14:foregroundMark x1="43556" y1="25397" x2="43556" y2="25397"/>
                        <a14:foregroundMark x1="41444" y1="25397" x2="41444" y2="25397"/>
                        <a14:foregroundMark x1="30444" y1="58730" x2="30444" y2="58730"/>
                        <a14:foregroundMark x1="35889" y1="54762" x2="35889" y2="54762"/>
                        <a14:foregroundMark x1="41000" y1="54762" x2="41000" y2="54762"/>
                        <a14:foregroundMark x1="45333" y1="59524" x2="45333" y2="59524"/>
                        <a14:foregroundMark x1="48667" y1="56746" x2="48667" y2="56746"/>
                        <a14:foregroundMark x1="60222" y1="54762" x2="60222" y2="54762"/>
                        <a14:foregroundMark x1="66444" y1="56746" x2="66444" y2="56746"/>
                        <a14:foregroundMark x1="73111" y1="58730" x2="73111" y2="58730"/>
                        <a14:foregroundMark x1="75667" y1="49603" x2="75667" y2="49603"/>
                        <a14:foregroundMark x1="79556" y1="44841" x2="79556" y2="44841"/>
                        <a14:foregroundMark x1="89333" y1="64286" x2="89333" y2="64286"/>
                        <a14:foregroundMark x1="91889" y1="64286" x2="91889" y2="64286"/>
                        <a14:foregroundMark x1="95444" y1="58730" x2="95444" y2="58730"/>
                        <a14:backgroundMark x1="55333" y1="21825" x2="68000" y2="10714"/>
                        <a14:backgroundMark x1="64889" y1="19048" x2="62111" y2="27381"/>
                      </a14:backgroundRemoval>
                    </a14:imgEffect>
                  </a14:imgLayer>
                </a14:imgProps>
              </a:ext>
              <a:ext uri="{28A0092B-C50C-407E-A947-70E740481C1C}">
                <a14:useLocalDpi xmlns:a14="http://schemas.microsoft.com/office/drawing/2010/main" xmlns="" val="0"/>
              </a:ext>
            </a:extLst>
          </a:blip>
          <a:stretch>
            <a:fillRect/>
          </a:stretch>
        </p:blipFill>
        <p:spPr>
          <a:xfrm>
            <a:off x="4537064" y="63363"/>
            <a:ext cx="3796444" cy="1063005"/>
          </a:xfrm>
          <a:prstGeom prst="rect">
            <a:avLst/>
          </a:prstGeom>
        </p:spPr>
      </p:pic>
    </p:spTree>
    <p:extLst>
      <p:ext uri="{BB962C8B-B14F-4D97-AF65-F5344CB8AC3E}">
        <p14:creationId xmlns:p14="http://schemas.microsoft.com/office/powerpoint/2010/main" xmlns="" val="2448540053"/>
      </p:ext>
    </p:extLst>
  </p:cSld>
  <p:clrMapOvr>
    <a:masterClrMapping/>
  </p:clrMapOvr>
  <mc:AlternateContent xmlns:mc="http://schemas.openxmlformats.org/markup-compatibility/2006">
    <mc:Choice xmlns:p14="http://schemas.microsoft.com/office/powerpoint/2010/main" xmlns="" Requires="p14">
      <p:transition spd="slow">
        <p14:flash/>
      </p:transition>
    </mc:Choice>
    <mc:Fallback>
      <p:transition spd="slow">
        <p:fade/>
      </p:transition>
    </mc:Fallback>
  </mc:AlternateContent>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425</TotalTime>
  <Words>460</Words>
  <Application>Microsoft Office PowerPoint</Application>
  <PresentationFormat>Custom</PresentationFormat>
  <Paragraphs>79</Paragraphs>
  <Slides>12</Slides>
  <Notes>0</Notes>
  <HiddenSlides>0</HiddenSlides>
  <MMClips>1</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Thème Office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Mohamed_dahmouni@outlook.fr</dc:creator>
  <cp:lastModifiedBy>Badis</cp:lastModifiedBy>
  <cp:revision>7</cp:revision>
  <dcterms:created xsi:type="dcterms:W3CDTF">2024-03-20T16:13:41Z</dcterms:created>
  <dcterms:modified xsi:type="dcterms:W3CDTF">2025-01-15T15:52:43Z</dcterms:modified>
</cp:coreProperties>
</file>